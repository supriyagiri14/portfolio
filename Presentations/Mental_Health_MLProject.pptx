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League Spartan" charset="1" panose="00000800000000000000"/>
      <p:regular r:id="rId17"/>
    </p:embeddedFont>
    <p:embeddedFont>
      <p:font typeface="Glacial Indifference Bold" charset="1" panose="00000800000000000000"/>
      <p:regular r:id="rId18"/>
    </p:embeddedFont>
    <p:embeddedFont>
      <p:font typeface="Glacial Indifference" charset="1" panose="00000000000000000000"/>
      <p:regular r:id="rId19"/>
    </p:embeddedFont>
    <p:embeddedFont>
      <p:font typeface="Glacial Indifference Italics" charset="1" panose="00000000000000000000"/>
      <p:regular r:id="rId20"/>
    </p:embeddedFont>
    <p:embeddedFont>
      <p:font typeface="Nourd Bold" charset="1" panose="000008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slide9.xml" Type="http://schemas.openxmlformats.org/officeDocument/2006/relationships/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slide9.xml" Type="http://schemas.openxmlformats.org/officeDocument/2006/relationships/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https://mentalhealthmlproject.streamlit.app" TargetMode="External" Type="http://schemas.openxmlformats.org/officeDocument/2006/relationships/hyperlink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https://github.com/SupriyaGiri14/Mental_Health_ML_Project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D65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0">
            <a:off x="0" y="-87612"/>
            <a:ext cx="5208785" cy="10462224"/>
          </a:xfrm>
          <a:prstGeom prst="rect">
            <a:avLst/>
          </a:prstGeom>
          <a:solidFill>
            <a:srgbClr val="CDE9E8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4839129" y="1057275"/>
            <a:ext cx="13515546" cy="26602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25"/>
              </a:lnSpc>
            </a:pPr>
            <a:r>
              <a:rPr lang="en-US" b="true" sz="7701" i="true" spc="-77">
                <a:solidFill>
                  <a:srgbClr val="CDE9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Mental Health in Tech</a:t>
            </a:r>
          </a:p>
          <a:p>
            <a:pPr algn="ctr">
              <a:lnSpc>
                <a:spcPts val="2549"/>
              </a:lnSpc>
            </a:pPr>
          </a:p>
          <a:p>
            <a:pPr algn="ctr">
              <a:lnSpc>
                <a:spcPts val="9513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462242" y="1019175"/>
            <a:ext cx="4965618" cy="59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0"/>
              </a:lnSpc>
            </a:pPr>
            <a:r>
              <a:rPr lang="en-US" b="true" sz="2000" spc="220">
                <a:solidFill>
                  <a:srgbClr val="1D617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“BRI</a:t>
            </a:r>
            <a:r>
              <a:rPr lang="en-US" b="true" sz="2000" spc="220">
                <a:solidFill>
                  <a:srgbClr val="1D617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DGING THE GAP BETWEEN LIFESTYLE AND WELL-BEING”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675105" y="8296910"/>
            <a:ext cx="6584195" cy="427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34"/>
              </a:lnSpc>
            </a:pPr>
            <a:r>
              <a:rPr lang="en-US" sz="2900" spc="203">
                <a:solidFill>
                  <a:srgbClr val="CDE9E8">
                    <a:alpha val="68627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Presented by Supriya Gi</a:t>
            </a:r>
            <a:r>
              <a:rPr lang="en-US" sz="2900" spc="203">
                <a:solidFill>
                  <a:srgbClr val="FFFFFF">
                    <a:alpha val="68627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675105" y="8991917"/>
            <a:ext cx="6584195" cy="427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34"/>
              </a:lnSpc>
            </a:pPr>
            <a:r>
              <a:rPr lang="en-US" sz="2900" spc="203">
                <a:solidFill>
                  <a:srgbClr val="CDE9E8">
                    <a:alpha val="65882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ML Bootcamp </a:t>
            </a:r>
            <a:r>
              <a:rPr lang="en-US" sz="2900" spc="203">
                <a:solidFill>
                  <a:srgbClr val="CDE9E8">
                    <a:alpha val="65882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Project.2026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566178">
            <a:off x="1238767" y="5042074"/>
            <a:ext cx="2731251" cy="4441058"/>
          </a:xfrm>
          <a:custGeom>
            <a:avLst/>
            <a:gdLst/>
            <a:ahLst/>
            <a:cxnLst/>
            <a:rect r="r" b="b" t="t" l="l"/>
            <a:pathLst>
              <a:path h="4441058" w="2731251">
                <a:moveTo>
                  <a:pt x="0" y="0"/>
                </a:moveTo>
                <a:lnTo>
                  <a:pt x="2731251" y="0"/>
                </a:lnTo>
                <a:lnTo>
                  <a:pt x="2731251" y="4441058"/>
                </a:lnTo>
                <a:lnTo>
                  <a:pt x="0" y="44410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897475" y="104775"/>
            <a:ext cx="138708" cy="36576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CDE9E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932560" y="2373116"/>
            <a:ext cx="13515546" cy="670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05"/>
              </a:lnSpc>
            </a:pPr>
            <a:r>
              <a:rPr lang="en-US" sz="4401" i="true" spc="-44">
                <a:solidFill>
                  <a:srgbClr val="CDE9E8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</a:rPr>
              <a:t>End to End Machine Learning Pipeline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E9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0">
            <a:off x="12760730" y="-87612"/>
            <a:ext cx="5527270" cy="10462224"/>
          </a:xfrm>
          <a:prstGeom prst="rect">
            <a:avLst/>
          </a:prstGeom>
          <a:solidFill>
            <a:srgbClr val="3D654C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1028700" y="1028700"/>
            <a:ext cx="12050515" cy="1517450"/>
            <a:chOff x="0" y="0"/>
            <a:chExt cx="16067354" cy="2023267"/>
          </a:xfrm>
        </p:grpSpPr>
        <p:sp>
          <p:nvSpPr>
            <p:cNvPr name="AutoShape 4" id="4"/>
            <p:cNvSpPr/>
            <p:nvPr/>
          </p:nvSpPr>
          <p:spPr>
            <a:xfrm rot="0">
              <a:off x="0" y="1978079"/>
              <a:ext cx="16059955" cy="45188"/>
            </a:xfrm>
            <a:prstGeom prst="rect">
              <a:avLst/>
            </a:prstGeom>
            <a:solidFill>
              <a:srgbClr val="3D654C"/>
            </a:solidFill>
          </p:spPr>
        </p:sp>
        <p:sp>
          <p:nvSpPr>
            <p:cNvPr name="TextBox 5" id="5"/>
            <p:cNvSpPr txBox="true"/>
            <p:nvPr/>
          </p:nvSpPr>
          <p:spPr>
            <a:xfrm rot="0">
              <a:off x="0" y="-123825"/>
              <a:ext cx="16067354" cy="15157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9660"/>
                </a:lnSpc>
              </a:pPr>
              <a:r>
                <a:rPr lang="en-US" b="true" sz="6900" i="true" spc="759">
                  <a:solidFill>
                    <a:srgbClr val="1D617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PROBLEM STATEMENT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760730" y="-175224"/>
            <a:ext cx="6195792" cy="10462224"/>
          </a:xfrm>
          <a:custGeom>
            <a:avLst/>
            <a:gdLst/>
            <a:ahLst/>
            <a:cxnLst/>
            <a:rect r="r" b="b" t="t" l="l"/>
            <a:pathLst>
              <a:path h="10462224" w="6195792">
                <a:moveTo>
                  <a:pt x="0" y="0"/>
                </a:moveTo>
                <a:lnTo>
                  <a:pt x="6195793" y="0"/>
                </a:lnTo>
                <a:lnTo>
                  <a:pt x="6195793" y="10462224"/>
                </a:lnTo>
                <a:lnTo>
                  <a:pt x="0" y="104622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6513" t="0" r="-56776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2736744"/>
            <a:ext cx="10738572" cy="2838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1D617A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hlinkClick r:id="rId3" action="ppaction://hlinksldjump"/>
              </a:rPr>
              <a:t>Employees’ m</a:t>
            </a:r>
            <a:r>
              <a:rPr lang="en-US" sz="3000" spc="30">
                <a:solidFill>
                  <a:srgbClr val="1D617A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hlinkClick r:id="rId3" action="ppaction://hlinksldjump"/>
              </a:rPr>
              <a:t>ental stress is often not id</a:t>
            </a:r>
            <a:r>
              <a:rPr lang="en-US" sz="3000" spc="30">
                <a:solidFill>
                  <a:srgbClr val="1D617A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hlinkClick r:id="rId3" action="ppaction://hlinksldjump"/>
              </a:rPr>
              <a:t>e</a:t>
            </a:r>
            <a:r>
              <a:rPr lang="en-US" sz="3000" spc="30">
                <a:solidFill>
                  <a:srgbClr val="1D617A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hlinkClick r:id="rId3" action="ppaction://hlinksldjump"/>
              </a:rPr>
              <a:t>ntified early, leading to reduced productivity, poor well-bein</a:t>
            </a:r>
            <a:r>
              <a:rPr lang="en-US" sz="3000" spc="30">
                <a:solidFill>
                  <a:srgbClr val="1D617A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hlinkClick r:id="rId3" action="ppaction://hlinksldjump"/>
              </a:rPr>
              <a:t>g, and high </a:t>
            </a:r>
            <a:r>
              <a:rPr lang="en-US" sz="3000" spc="30">
                <a:solidFill>
                  <a:srgbClr val="1D617A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hlinkClick r:id="rId3" action="ppaction://hlinksldjump"/>
              </a:rPr>
              <a:t>attrition. There is a need for an automated system to detect stress levels using employee data.</a:t>
            </a:r>
          </a:p>
          <a:p>
            <a:pPr algn="l">
              <a:lnSpc>
                <a:spcPts val="45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7897475" y="104775"/>
            <a:ext cx="138708" cy="36576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CDE9E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479944"/>
            <a:ext cx="10738572" cy="4552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b="true" sz="3000" spc="30">
                <a:solidFill>
                  <a:srgbClr val="1D617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hlinkClick r:id="rId3" action="ppaction://hlinksldjump"/>
              </a:rPr>
              <a:t> The High Cost of Late Detection</a:t>
            </a:r>
          </a:p>
          <a:p>
            <a:pPr algn="l" marL="1295400" indent="-431800" lvl="2">
              <a:lnSpc>
                <a:spcPts val="4500"/>
              </a:lnSpc>
              <a:buFont typeface="Arial"/>
              <a:buChar char="⚬"/>
            </a:pPr>
            <a:r>
              <a:rPr lang="en-US" sz="3000" spc="30">
                <a:solidFill>
                  <a:srgbClr val="1D617A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hlinkClick r:id="rId3" action="ppaction://hlinksldjump"/>
              </a:rPr>
              <a:t>$5 Million/Year: Average loss for a 1,000-employee company due to burnout.</a:t>
            </a:r>
          </a:p>
          <a:p>
            <a:pPr algn="l" marL="1295400" indent="-431800" lvl="2">
              <a:lnSpc>
                <a:spcPts val="4500"/>
              </a:lnSpc>
              <a:buFont typeface="Arial"/>
              <a:buChar char="⚬"/>
            </a:pPr>
            <a:r>
              <a:rPr lang="en-US" sz="3000" spc="30">
                <a:solidFill>
                  <a:srgbClr val="1D617A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hlinkClick r:id="rId3" action="ppaction://hlinksldjump"/>
              </a:rPr>
              <a:t>3x</a:t>
            </a:r>
            <a:r>
              <a:rPr lang="en-US" sz="3000" spc="30">
                <a:solidFill>
                  <a:srgbClr val="1D617A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hlinkClick r:id="rId3" action="ppaction://hlinksldjump"/>
              </a:rPr>
              <a:t> Productivity Loss: The hidden cost of "Presenteeism" (working while unwell) vs. taking a sick day.</a:t>
            </a:r>
          </a:p>
          <a:p>
            <a:pPr algn="l" marL="1295400" indent="-431800" lvl="2">
              <a:lnSpc>
                <a:spcPts val="4500"/>
              </a:lnSpc>
              <a:buFont typeface="Arial"/>
              <a:buChar char="⚬"/>
            </a:pPr>
            <a:r>
              <a:rPr lang="en-US" sz="3000" spc="30">
                <a:solidFill>
                  <a:srgbClr val="1D617A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hlinkClick r:id="rId3" action="ppaction://hlinksldjump"/>
              </a:rPr>
              <a:t>The </a:t>
            </a:r>
            <a:r>
              <a:rPr lang="en-US" sz="3000" spc="30">
                <a:solidFill>
                  <a:srgbClr val="1D617A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hlinkClick r:id="rId3" action="ppaction://hlinksldjump"/>
              </a:rPr>
              <a:t>Retention Gap: 52% of stressed employees are actively job hunting.</a:t>
            </a:r>
          </a:p>
          <a:p>
            <a:pPr algn="l">
              <a:lnSpc>
                <a:spcPts val="4500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D65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5208785" cy="10287000"/>
            <a:chOff x="0" y="0"/>
            <a:chExt cx="6945046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>
              <a:alphaModFix amt="92000"/>
            </a:blip>
            <a:srcRect l="38923" t="0" r="38923" b="0"/>
            <a:stretch>
              <a:fillRect/>
            </a:stretch>
          </p:blipFill>
          <p:spPr>
            <a:xfrm flipH="false" flipV="false">
              <a:off x="0" y="0"/>
              <a:ext cx="6945046" cy="13716000"/>
            </a:xfrm>
            <a:prstGeom prst="rect">
              <a:avLst/>
            </a:prstGeom>
          </p:spPr>
        </p:pic>
      </p:grpSp>
      <p:sp>
        <p:nvSpPr>
          <p:cNvPr name="AutoShape 4" id="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0">
            <a:off x="5208785" y="2994737"/>
            <a:ext cx="13121883" cy="7326168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Freeform 5" id="5" descr="brain monoline illustration"/>
          <p:cNvSpPr/>
          <p:nvPr/>
        </p:nvSpPr>
        <p:spPr>
          <a:xfrm flipH="false" flipV="false" rot="0">
            <a:off x="14579614" y="7129258"/>
            <a:ext cx="4692097" cy="3589454"/>
          </a:xfrm>
          <a:custGeom>
            <a:avLst/>
            <a:gdLst/>
            <a:ahLst/>
            <a:cxnLst/>
            <a:rect r="r" b="b" t="t" l="l"/>
            <a:pathLst>
              <a:path h="3589454" w="4692097">
                <a:moveTo>
                  <a:pt x="0" y="0"/>
                </a:moveTo>
                <a:lnTo>
                  <a:pt x="4692096" y="0"/>
                </a:lnTo>
                <a:lnTo>
                  <a:pt x="4692096" y="3589454"/>
                </a:lnTo>
                <a:lnTo>
                  <a:pt x="0" y="35894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5208785" y="1038225"/>
            <a:ext cx="13121883" cy="2432756"/>
            <a:chOff x="0" y="0"/>
            <a:chExt cx="17495844" cy="3243674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123825"/>
              <a:ext cx="17495844" cy="15157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660"/>
                </a:lnSpc>
              </a:pPr>
              <a:r>
                <a:rPr lang="en-US" sz="6900" i="true" spc="759">
                  <a:solidFill>
                    <a:srgbClr val="CDE9E8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PROJECT GOAL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426006"/>
              <a:ext cx="16121208" cy="81766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18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897475" y="1047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CDE9E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520728" y="4224077"/>
            <a:ext cx="10738572" cy="340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3000" spc="30">
                <a:solidFill>
                  <a:srgbClr val="1D617A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hlinkClick r:id="rId5" action="ppaction://hlinksldjump"/>
              </a:rPr>
              <a:t>W</a:t>
            </a:r>
            <a:r>
              <a:rPr lang="en-US" sz="3000" spc="30">
                <a:solidFill>
                  <a:srgbClr val="1D617A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hlinkClick r:id="rId5" action="ppaction://hlinksldjump"/>
              </a:rPr>
              <a:t>e built a system that: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1D617A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hlinkClick r:id="rId5" action="ppaction://hlinksldjump"/>
              </a:rPr>
              <a:t>takes employee tech survey data as input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1D617A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hlinkClick r:id="rId5" action="ppaction://hlinksldjump"/>
              </a:rPr>
              <a:t>analyzes patterns using ML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1D617A"/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hlinkClick r:id="rId5" action="ppaction://hlinksldjump"/>
              </a:rPr>
              <a:t>predicts whether an employee may need support or medical treatment</a:t>
            </a:r>
          </a:p>
          <a:p>
            <a:pPr algn="l">
              <a:lnSpc>
                <a:spcPts val="4500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E9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0">
            <a:off x="-158265" y="0"/>
            <a:ext cx="18604529" cy="2727263"/>
          </a:xfrm>
          <a:prstGeom prst="rect">
            <a:avLst/>
          </a:prstGeom>
          <a:solidFill>
            <a:srgbClr val="3D654C"/>
          </a:solidFill>
        </p:spPr>
      </p:sp>
      <p:sp>
        <p:nvSpPr>
          <p:cNvPr name="Freeform 3" id="3" descr="brain monoline illustration"/>
          <p:cNvSpPr/>
          <p:nvPr/>
        </p:nvSpPr>
        <p:spPr>
          <a:xfrm flipH="false" flipV="false" rot="0">
            <a:off x="14063446" y="7417134"/>
            <a:ext cx="4692097" cy="3589454"/>
          </a:xfrm>
          <a:custGeom>
            <a:avLst/>
            <a:gdLst/>
            <a:ahLst/>
            <a:cxnLst/>
            <a:rect r="r" b="b" t="t" l="l"/>
            <a:pathLst>
              <a:path h="3589454" w="4692097">
                <a:moveTo>
                  <a:pt x="0" y="0"/>
                </a:moveTo>
                <a:lnTo>
                  <a:pt x="4692097" y="0"/>
                </a:lnTo>
                <a:lnTo>
                  <a:pt x="4692097" y="3589454"/>
                </a:lnTo>
                <a:lnTo>
                  <a:pt x="0" y="35894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914159"/>
            <a:ext cx="18288000" cy="1167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60"/>
              </a:lnSpc>
            </a:pPr>
            <a:r>
              <a:rPr lang="en-US" sz="6900" i="true" spc="759">
                <a:solidFill>
                  <a:srgbClr val="CDE9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DAT</a:t>
            </a:r>
            <a:r>
              <a:rPr lang="en-US" b="true" sz="6900" i="true" spc="759">
                <a:solidFill>
                  <a:srgbClr val="CDE9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ASET USED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038475"/>
            <a:ext cx="10908568" cy="2266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1D617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Sou</a:t>
            </a:r>
            <a:r>
              <a:rPr lang="en-US" sz="3000" spc="30">
                <a:solidFill>
                  <a:srgbClr val="1D617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rce: Mental Health in Tech Survey Dataset from Kaggle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1D617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Rows: 1,200+</a:t>
            </a: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1D617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Columns: 27</a:t>
            </a:r>
          </a:p>
          <a:p>
            <a:pPr algn="l">
              <a:lnSpc>
                <a:spcPts val="450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7897475" y="1047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CDE9E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29700" y="5378784"/>
            <a:ext cx="10908568" cy="398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1D617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Preprocessing</a:t>
            </a:r>
          </a:p>
          <a:p>
            <a:pPr algn="l" marL="1295400" indent="-431800" lvl="2">
              <a:lnSpc>
                <a:spcPts val="4500"/>
              </a:lnSpc>
              <a:buFont typeface="Arial"/>
              <a:buChar char="⚬"/>
            </a:pPr>
            <a:r>
              <a:rPr lang="en-US" sz="3000" spc="30">
                <a:solidFill>
                  <a:srgbClr val="1D617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Initial examinations of data </a:t>
            </a:r>
          </a:p>
          <a:p>
            <a:pPr algn="l" marL="1295400" indent="-431800" lvl="2">
              <a:lnSpc>
                <a:spcPts val="4500"/>
              </a:lnSpc>
              <a:buFont typeface="Arial"/>
              <a:buChar char="⚬"/>
            </a:pPr>
            <a:r>
              <a:rPr lang="en-US" sz="3000" spc="30">
                <a:solidFill>
                  <a:srgbClr val="1D617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duplicate handling</a:t>
            </a:r>
          </a:p>
          <a:p>
            <a:pPr algn="l" marL="1295400" indent="-431800" lvl="2">
              <a:lnSpc>
                <a:spcPts val="4500"/>
              </a:lnSpc>
              <a:buFont typeface="Arial"/>
              <a:buChar char="⚬"/>
            </a:pPr>
            <a:r>
              <a:rPr lang="en-US" sz="3000" spc="30">
                <a:solidFill>
                  <a:srgbClr val="1D617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nulls handling </a:t>
            </a:r>
          </a:p>
          <a:p>
            <a:pPr algn="l" marL="1295400" indent="-431800" lvl="2">
              <a:lnSpc>
                <a:spcPts val="4500"/>
              </a:lnSpc>
              <a:buFont typeface="Arial"/>
              <a:buChar char="⚬"/>
            </a:pPr>
            <a:r>
              <a:rPr lang="en-US" sz="3000" spc="30">
                <a:solidFill>
                  <a:srgbClr val="1D617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removal of unwanted columns </a:t>
            </a:r>
          </a:p>
          <a:p>
            <a:pPr algn="l">
              <a:lnSpc>
                <a:spcPts val="4500"/>
              </a:lnSpc>
            </a:pPr>
          </a:p>
          <a:p>
            <a:pPr algn="l">
              <a:lnSpc>
                <a:spcPts val="450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378784"/>
            <a:ext cx="10908568" cy="512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1D617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Important columns from dataset:</a:t>
            </a:r>
          </a:p>
          <a:p>
            <a:pPr algn="l" marL="1295400" indent="-431800" lvl="2">
              <a:lnSpc>
                <a:spcPts val="4500"/>
              </a:lnSpc>
              <a:buFont typeface="Arial"/>
              <a:buChar char="⚬"/>
            </a:pPr>
            <a:r>
              <a:rPr lang="en-US" sz="3000" spc="30">
                <a:solidFill>
                  <a:srgbClr val="1D617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family_history</a:t>
            </a:r>
          </a:p>
          <a:p>
            <a:pPr algn="l" marL="1295400" indent="-431800" lvl="2">
              <a:lnSpc>
                <a:spcPts val="4500"/>
              </a:lnSpc>
              <a:buFont typeface="Arial"/>
              <a:buChar char="⚬"/>
            </a:pPr>
            <a:r>
              <a:rPr lang="en-US" sz="3000" spc="30">
                <a:solidFill>
                  <a:srgbClr val="1D617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benefits</a:t>
            </a:r>
          </a:p>
          <a:p>
            <a:pPr algn="l" marL="1295400" indent="-431800" lvl="2">
              <a:lnSpc>
                <a:spcPts val="4500"/>
              </a:lnSpc>
              <a:buFont typeface="Arial"/>
              <a:buChar char="⚬"/>
            </a:pPr>
            <a:r>
              <a:rPr lang="en-US" sz="3000" spc="30">
                <a:solidFill>
                  <a:srgbClr val="1D617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</a:t>
            </a:r>
            <a:r>
              <a:rPr lang="en-US" sz="3000" spc="30">
                <a:solidFill>
                  <a:srgbClr val="1D617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ge</a:t>
            </a:r>
          </a:p>
          <a:p>
            <a:pPr algn="l" marL="1295400" indent="-431800" lvl="2">
              <a:lnSpc>
                <a:spcPts val="4500"/>
              </a:lnSpc>
              <a:buFont typeface="Arial"/>
              <a:buChar char="⚬"/>
            </a:pPr>
            <a:r>
              <a:rPr lang="en-US" sz="3000" spc="30">
                <a:solidFill>
                  <a:srgbClr val="1D617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work_interfere</a:t>
            </a:r>
          </a:p>
          <a:p>
            <a:pPr algn="l" marL="1295400" indent="-431800" lvl="2">
              <a:lnSpc>
                <a:spcPts val="4500"/>
              </a:lnSpc>
              <a:buFont typeface="Arial"/>
              <a:buChar char="⚬"/>
            </a:pPr>
            <a:r>
              <a:rPr lang="en-US" sz="3000" spc="30">
                <a:solidFill>
                  <a:srgbClr val="1D617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treatment</a:t>
            </a:r>
          </a:p>
          <a:p>
            <a:pPr algn="l" marL="1295400" indent="-431800" lvl="2">
              <a:lnSpc>
                <a:spcPts val="4500"/>
              </a:lnSpc>
              <a:buFont typeface="Arial"/>
              <a:buChar char="⚬"/>
            </a:pPr>
            <a:r>
              <a:rPr lang="en-US" sz="3000" spc="30">
                <a:solidFill>
                  <a:srgbClr val="1D617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pysical_health_consequence</a:t>
            </a:r>
          </a:p>
          <a:p>
            <a:pPr algn="l" marL="1295400" indent="-431800" lvl="2">
              <a:lnSpc>
                <a:spcPts val="4500"/>
              </a:lnSpc>
              <a:buFont typeface="Arial"/>
              <a:buChar char="⚬"/>
            </a:pPr>
            <a:r>
              <a:rPr lang="en-US" sz="3000" spc="30">
                <a:solidFill>
                  <a:srgbClr val="1D617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coworkers</a:t>
            </a:r>
          </a:p>
          <a:p>
            <a:pPr algn="l">
              <a:lnSpc>
                <a:spcPts val="4500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E9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0">
            <a:off x="-158265" y="0"/>
            <a:ext cx="18604529" cy="2759111"/>
          </a:xfrm>
          <a:prstGeom prst="rect">
            <a:avLst/>
          </a:prstGeom>
          <a:solidFill>
            <a:srgbClr val="3D654C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304019" y="4330528"/>
            <a:ext cx="5461291" cy="1277507"/>
            <a:chOff x="0" y="0"/>
            <a:chExt cx="1438365" cy="336463"/>
          </a:xfrm>
        </p:grpSpPr>
        <p:sp>
          <p:nvSpPr>
            <p:cNvPr name="Freeform 4" id="4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438365" cy="336463"/>
            </a:xfrm>
            <a:custGeom>
              <a:avLst/>
              <a:gdLst/>
              <a:ahLst/>
              <a:cxnLst/>
              <a:rect r="r" b="b" t="t" l="l"/>
              <a:pathLst>
                <a:path h="336463" w="1438365">
                  <a:moveTo>
                    <a:pt x="0" y="0"/>
                  </a:moveTo>
                  <a:lnTo>
                    <a:pt x="1438365" y="0"/>
                  </a:lnTo>
                  <a:lnTo>
                    <a:pt x="1438365" y="336463"/>
                  </a:lnTo>
                  <a:lnTo>
                    <a:pt x="0" y="336463"/>
                  </a:lnTo>
                  <a:close/>
                </a:path>
              </a:pathLst>
            </a:custGeom>
            <a:solidFill>
              <a:srgbClr val="3D654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1438365" cy="3936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18160" indent="-259080" lvl="1">
                <a:lnSpc>
                  <a:spcPts val="3359"/>
                </a:lnSpc>
                <a:buAutoNum type="arabicPeriod" startAt="1"/>
              </a:pPr>
              <a:r>
                <a:rPr lang="en-US" sz="2400" spc="192">
                  <a:solidFill>
                    <a:srgbClr val="CDE9E8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Target and Feature selection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04019" y="5769960"/>
            <a:ext cx="5461291" cy="1277507"/>
            <a:chOff x="0" y="0"/>
            <a:chExt cx="1438365" cy="336463"/>
          </a:xfrm>
        </p:grpSpPr>
        <p:sp>
          <p:nvSpPr>
            <p:cNvPr name="Freeform 7" id="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438365" cy="336463"/>
            </a:xfrm>
            <a:custGeom>
              <a:avLst/>
              <a:gdLst/>
              <a:ahLst/>
              <a:cxnLst/>
              <a:rect r="r" b="b" t="t" l="l"/>
              <a:pathLst>
                <a:path h="336463" w="1438365">
                  <a:moveTo>
                    <a:pt x="0" y="0"/>
                  </a:moveTo>
                  <a:lnTo>
                    <a:pt x="1438365" y="0"/>
                  </a:lnTo>
                  <a:lnTo>
                    <a:pt x="1438365" y="336463"/>
                  </a:lnTo>
                  <a:lnTo>
                    <a:pt x="0" y="336463"/>
                  </a:lnTo>
                  <a:close/>
                </a:path>
              </a:pathLst>
            </a:custGeom>
            <a:solidFill>
              <a:srgbClr val="3D654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1438365" cy="3936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18160" indent="-259080" lvl="1">
                <a:lnSpc>
                  <a:spcPts val="3359"/>
                </a:lnSpc>
                <a:buAutoNum type="arabicPeriod" startAt="1"/>
              </a:pPr>
              <a:r>
                <a:rPr lang="en-US" sz="2400" spc="192">
                  <a:solidFill>
                    <a:srgbClr val="CDE9E8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Perform train-test(80-20) split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431863" y="4331685"/>
            <a:ext cx="5461291" cy="1276350"/>
            <a:chOff x="0" y="0"/>
            <a:chExt cx="1438365" cy="336158"/>
          </a:xfrm>
        </p:grpSpPr>
        <p:sp>
          <p:nvSpPr>
            <p:cNvPr name="Freeform 10" id="10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438365" cy="336158"/>
            </a:xfrm>
            <a:custGeom>
              <a:avLst/>
              <a:gdLst/>
              <a:ahLst/>
              <a:cxnLst/>
              <a:rect r="r" b="b" t="t" l="l"/>
              <a:pathLst>
                <a:path h="336158" w="1438365">
                  <a:moveTo>
                    <a:pt x="0" y="0"/>
                  </a:moveTo>
                  <a:lnTo>
                    <a:pt x="1438365" y="0"/>
                  </a:lnTo>
                  <a:lnTo>
                    <a:pt x="1438365" y="336158"/>
                  </a:lnTo>
                  <a:lnTo>
                    <a:pt x="0" y="336158"/>
                  </a:lnTo>
                  <a:close/>
                </a:path>
              </a:pathLst>
            </a:custGeom>
            <a:solidFill>
              <a:srgbClr val="3D654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438365" cy="3933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18160" indent="-259080" lvl="1">
                <a:lnSpc>
                  <a:spcPts val="3359"/>
                </a:lnSpc>
                <a:buAutoNum type="arabicPeriod" startAt="1"/>
              </a:pPr>
              <a:r>
                <a:rPr lang="en-US" sz="2400" spc="192">
                  <a:solidFill>
                    <a:srgbClr val="CDE9E8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One-hot encoding of categorical columns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431863" y="5761591"/>
            <a:ext cx="5461291" cy="1276350"/>
            <a:chOff x="0" y="0"/>
            <a:chExt cx="1438365" cy="336158"/>
          </a:xfrm>
        </p:grpSpPr>
        <p:sp>
          <p:nvSpPr>
            <p:cNvPr name="Freeform 13" id="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438365" cy="336158"/>
            </a:xfrm>
            <a:custGeom>
              <a:avLst/>
              <a:gdLst/>
              <a:ahLst/>
              <a:cxnLst/>
              <a:rect r="r" b="b" t="t" l="l"/>
              <a:pathLst>
                <a:path h="336158" w="1438365">
                  <a:moveTo>
                    <a:pt x="0" y="0"/>
                  </a:moveTo>
                  <a:lnTo>
                    <a:pt x="1438365" y="0"/>
                  </a:lnTo>
                  <a:lnTo>
                    <a:pt x="1438365" y="336158"/>
                  </a:lnTo>
                  <a:lnTo>
                    <a:pt x="0" y="336158"/>
                  </a:lnTo>
                  <a:close/>
                </a:path>
              </a:pathLst>
            </a:custGeom>
            <a:solidFill>
              <a:srgbClr val="3D654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438365" cy="3933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18160" indent="-259080" lvl="1">
                <a:lnSpc>
                  <a:spcPts val="3359"/>
                </a:lnSpc>
                <a:buAutoNum type="arabicPeriod" startAt="1"/>
              </a:pPr>
              <a:r>
                <a:rPr lang="en-US" sz="2400" spc="192">
                  <a:solidFill>
                    <a:srgbClr val="CDE9E8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Normalizations of encoded data - ( MinMaxScaler)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431863" y="7217036"/>
            <a:ext cx="5461291" cy="1276350"/>
            <a:chOff x="0" y="0"/>
            <a:chExt cx="1438365" cy="336158"/>
          </a:xfrm>
        </p:grpSpPr>
        <p:sp>
          <p:nvSpPr>
            <p:cNvPr name="Freeform 16" id="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438365" cy="336158"/>
            </a:xfrm>
            <a:custGeom>
              <a:avLst/>
              <a:gdLst/>
              <a:ahLst/>
              <a:cxnLst/>
              <a:rect r="r" b="b" t="t" l="l"/>
              <a:pathLst>
                <a:path h="336158" w="1438365">
                  <a:moveTo>
                    <a:pt x="0" y="0"/>
                  </a:moveTo>
                  <a:lnTo>
                    <a:pt x="1438365" y="0"/>
                  </a:lnTo>
                  <a:lnTo>
                    <a:pt x="1438365" y="336158"/>
                  </a:lnTo>
                  <a:lnTo>
                    <a:pt x="0" y="336158"/>
                  </a:lnTo>
                  <a:close/>
                </a:path>
              </a:pathLst>
            </a:custGeom>
            <a:solidFill>
              <a:srgbClr val="3D654C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1438365" cy="3933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18160" indent="-259080" lvl="1">
                <a:lnSpc>
                  <a:spcPts val="3359"/>
                </a:lnSpc>
                <a:buAutoNum type="arabicPeriod" startAt="1"/>
              </a:pPr>
              <a:r>
                <a:rPr lang="en-US" sz="2400" spc="192">
                  <a:solidFill>
                    <a:srgbClr val="CDE9E8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Model Selection - KNeighborsClassifier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431863" y="8632643"/>
            <a:ext cx="5461291" cy="1276350"/>
            <a:chOff x="0" y="0"/>
            <a:chExt cx="1438365" cy="336158"/>
          </a:xfrm>
        </p:grpSpPr>
        <p:sp>
          <p:nvSpPr>
            <p:cNvPr name="Freeform 19" id="1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438365" cy="336158"/>
            </a:xfrm>
            <a:custGeom>
              <a:avLst/>
              <a:gdLst/>
              <a:ahLst/>
              <a:cxnLst/>
              <a:rect r="r" b="b" t="t" l="l"/>
              <a:pathLst>
                <a:path h="336158" w="1438365">
                  <a:moveTo>
                    <a:pt x="0" y="0"/>
                  </a:moveTo>
                  <a:lnTo>
                    <a:pt x="1438365" y="0"/>
                  </a:lnTo>
                  <a:lnTo>
                    <a:pt x="1438365" y="336158"/>
                  </a:lnTo>
                  <a:lnTo>
                    <a:pt x="0" y="336158"/>
                  </a:lnTo>
                  <a:close/>
                </a:path>
              </a:pathLst>
            </a:custGeom>
            <a:solidFill>
              <a:srgbClr val="3D654C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438365" cy="3933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18160" indent="-259080" lvl="1">
                <a:lnSpc>
                  <a:spcPts val="3359"/>
                </a:lnSpc>
                <a:buAutoNum type="arabicPeriod" startAt="1"/>
              </a:pPr>
              <a:r>
                <a:rPr lang="en-US" sz="2400" spc="192">
                  <a:solidFill>
                    <a:srgbClr val="CDE9E8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Model Fit on train data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578954" y="4303110"/>
            <a:ext cx="5461291" cy="1276350"/>
            <a:chOff x="0" y="0"/>
            <a:chExt cx="1438365" cy="336158"/>
          </a:xfrm>
        </p:grpSpPr>
        <p:sp>
          <p:nvSpPr>
            <p:cNvPr name="Freeform 22" id="22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438365" cy="336158"/>
            </a:xfrm>
            <a:custGeom>
              <a:avLst/>
              <a:gdLst/>
              <a:ahLst/>
              <a:cxnLst/>
              <a:rect r="r" b="b" t="t" l="l"/>
              <a:pathLst>
                <a:path h="336158" w="1438365">
                  <a:moveTo>
                    <a:pt x="0" y="0"/>
                  </a:moveTo>
                  <a:lnTo>
                    <a:pt x="1438365" y="0"/>
                  </a:lnTo>
                  <a:lnTo>
                    <a:pt x="1438365" y="336158"/>
                  </a:lnTo>
                  <a:lnTo>
                    <a:pt x="0" y="336158"/>
                  </a:lnTo>
                  <a:close/>
                </a:path>
              </a:pathLst>
            </a:custGeom>
            <a:solidFill>
              <a:srgbClr val="3D654C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1438365" cy="3933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18160" indent="-259080" lvl="1">
                <a:lnSpc>
                  <a:spcPts val="3359"/>
                </a:lnSpc>
                <a:buAutoNum type="arabicPeriod" startAt="1"/>
              </a:pPr>
              <a:r>
                <a:rPr lang="en-US" sz="2400" spc="192">
                  <a:solidFill>
                    <a:srgbClr val="CDE9E8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One-hot encoding of categorical columns</a:t>
              </a:r>
            </a:p>
          </p:txBody>
        </p:sp>
      </p:grpSp>
      <p:sp>
        <p:nvSpPr>
          <p:cNvPr name="Freeform 24" id="24" descr="brain monoline illustration"/>
          <p:cNvSpPr/>
          <p:nvPr/>
        </p:nvSpPr>
        <p:spPr>
          <a:xfrm flipH="false" flipV="false" rot="0">
            <a:off x="14063446" y="7417134"/>
            <a:ext cx="4692097" cy="3589454"/>
          </a:xfrm>
          <a:custGeom>
            <a:avLst/>
            <a:gdLst/>
            <a:ahLst/>
            <a:cxnLst/>
            <a:rect r="r" b="b" t="t" l="l"/>
            <a:pathLst>
              <a:path h="3589454" w="4692097">
                <a:moveTo>
                  <a:pt x="0" y="0"/>
                </a:moveTo>
                <a:lnTo>
                  <a:pt x="4692097" y="0"/>
                </a:lnTo>
                <a:lnTo>
                  <a:pt x="4692097" y="3589454"/>
                </a:lnTo>
                <a:lnTo>
                  <a:pt x="0" y="35894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2550379" y="5761591"/>
            <a:ext cx="5461291" cy="1276350"/>
            <a:chOff x="0" y="0"/>
            <a:chExt cx="1438365" cy="336158"/>
          </a:xfrm>
        </p:grpSpPr>
        <p:sp>
          <p:nvSpPr>
            <p:cNvPr name="Freeform 26" id="2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438365" cy="336158"/>
            </a:xfrm>
            <a:custGeom>
              <a:avLst/>
              <a:gdLst/>
              <a:ahLst/>
              <a:cxnLst/>
              <a:rect r="r" b="b" t="t" l="l"/>
              <a:pathLst>
                <a:path h="336158" w="1438365">
                  <a:moveTo>
                    <a:pt x="0" y="0"/>
                  </a:moveTo>
                  <a:lnTo>
                    <a:pt x="1438365" y="0"/>
                  </a:lnTo>
                  <a:lnTo>
                    <a:pt x="1438365" y="336158"/>
                  </a:lnTo>
                  <a:lnTo>
                    <a:pt x="0" y="336158"/>
                  </a:lnTo>
                  <a:close/>
                </a:path>
              </a:pathLst>
            </a:custGeom>
            <a:solidFill>
              <a:srgbClr val="3D654C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1438365" cy="3933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18160" indent="-259080" lvl="1">
                <a:lnSpc>
                  <a:spcPts val="3359"/>
                </a:lnSpc>
                <a:buAutoNum type="arabicPeriod" startAt="1"/>
              </a:pPr>
              <a:r>
                <a:rPr lang="en-US" sz="2400" spc="192">
                  <a:solidFill>
                    <a:srgbClr val="CDE9E8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Normalizations of encoded data - ( MinMaxScaler)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559904" y="7226561"/>
            <a:ext cx="5461291" cy="1753017"/>
            <a:chOff x="0" y="0"/>
            <a:chExt cx="1438365" cy="461700"/>
          </a:xfrm>
        </p:grpSpPr>
        <p:sp>
          <p:nvSpPr>
            <p:cNvPr name="Freeform 29" id="29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438365" cy="461700"/>
            </a:xfrm>
            <a:custGeom>
              <a:avLst/>
              <a:gdLst/>
              <a:ahLst/>
              <a:cxnLst/>
              <a:rect r="r" b="b" t="t" l="l"/>
              <a:pathLst>
                <a:path h="461700" w="1438365">
                  <a:moveTo>
                    <a:pt x="0" y="0"/>
                  </a:moveTo>
                  <a:lnTo>
                    <a:pt x="1438365" y="0"/>
                  </a:lnTo>
                  <a:lnTo>
                    <a:pt x="1438365" y="461700"/>
                  </a:lnTo>
                  <a:lnTo>
                    <a:pt x="0" y="461700"/>
                  </a:lnTo>
                  <a:close/>
                </a:path>
              </a:pathLst>
            </a:custGeom>
            <a:solidFill>
              <a:srgbClr val="3D654C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1438365" cy="5188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18160" indent="-259080" lvl="1">
                <a:lnSpc>
                  <a:spcPts val="3359"/>
                </a:lnSpc>
                <a:buAutoNum type="arabicPeriod" startAt="1"/>
              </a:pPr>
              <a:r>
                <a:rPr lang="en-US" sz="2400" spc="192">
                  <a:solidFill>
                    <a:srgbClr val="CDE9E8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Calculate score with one hot encoded and normalized test data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1406976" y="7152241"/>
            <a:ext cx="4358334" cy="2337652"/>
          </a:xfrm>
          <a:custGeom>
            <a:avLst/>
            <a:gdLst/>
            <a:ahLst/>
            <a:cxnLst/>
            <a:rect r="r" b="b" t="t" l="l"/>
            <a:pathLst>
              <a:path h="2337652" w="4358334">
                <a:moveTo>
                  <a:pt x="0" y="0"/>
                </a:moveTo>
                <a:lnTo>
                  <a:pt x="4358334" y="0"/>
                </a:lnTo>
                <a:lnTo>
                  <a:pt x="4358334" y="2337652"/>
                </a:lnTo>
                <a:lnTo>
                  <a:pt x="0" y="23376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0" y="914400"/>
            <a:ext cx="18262339" cy="1167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60"/>
              </a:lnSpc>
            </a:pPr>
            <a:r>
              <a:rPr lang="en-US" sz="6900" i="true" spc="759">
                <a:solidFill>
                  <a:srgbClr val="CDE9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MACHINE LEARNING STEPS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7897475" y="1047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CDE9E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5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655673" y="3281827"/>
            <a:ext cx="5109637" cy="1210626"/>
            <a:chOff x="0" y="0"/>
            <a:chExt cx="6812849" cy="1614167"/>
          </a:xfrm>
        </p:grpSpPr>
        <p:sp>
          <p:nvSpPr>
            <p:cNvPr name="TextBox 35" id="35"/>
            <p:cNvSpPr txBox="true"/>
            <p:nvPr/>
          </p:nvSpPr>
          <p:spPr>
            <a:xfrm rot="0">
              <a:off x="0" y="-66675"/>
              <a:ext cx="6812849" cy="729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20"/>
                </a:lnSpc>
              </a:pPr>
              <a:r>
                <a:rPr lang="en-US" b="true" sz="3300" spc="297">
                  <a:solidFill>
                    <a:srgbClr val="1D617A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FULL DATA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0" y="1029967"/>
              <a:ext cx="6812849" cy="584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114699" y="3330609"/>
            <a:ext cx="5109637" cy="972501"/>
            <a:chOff x="0" y="0"/>
            <a:chExt cx="6812849" cy="1296667"/>
          </a:xfrm>
        </p:grpSpPr>
        <p:sp>
          <p:nvSpPr>
            <p:cNvPr name="TextBox 38" id="38"/>
            <p:cNvSpPr txBox="true"/>
            <p:nvPr/>
          </p:nvSpPr>
          <p:spPr>
            <a:xfrm rot="0">
              <a:off x="0" y="-66675"/>
              <a:ext cx="6812849" cy="729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20"/>
                </a:lnSpc>
              </a:pPr>
              <a:r>
                <a:rPr lang="en-US" b="true" sz="3300" spc="297">
                  <a:solidFill>
                    <a:srgbClr val="1D617A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TRAIN DATA</a:t>
              </a:r>
            </a:p>
          </p:txBody>
        </p:sp>
        <p:sp>
          <p:nvSpPr>
            <p:cNvPr name="TextBox 39" id="39"/>
            <p:cNvSpPr txBox="true"/>
            <p:nvPr/>
          </p:nvSpPr>
          <p:spPr>
            <a:xfrm rot="0">
              <a:off x="0" y="712467"/>
              <a:ext cx="6812849" cy="584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312254" y="3330609"/>
            <a:ext cx="5109637" cy="1210626"/>
            <a:chOff x="0" y="0"/>
            <a:chExt cx="6812849" cy="1614167"/>
          </a:xfrm>
        </p:grpSpPr>
        <p:sp>
          <p:nvSpPr>
            <p:cNvPr name="TextBox 41" id="41"/>
            <p:cNvSpPr txBox="true"/>
            <p:nvPr/>
          </p:nvSpPr>
          <p:spPr>
            <a:xfrm rot="0">
              <a:off x="0" y="-66675"/>
              <a:ext cx="6812849" cy="729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20"/>
                </a:lnSpc>
              </a:pPr>
              <a:r>
                <a:rPr lang="en-US" b="true" sz="3300" spc="297">
                  <a:solidFill>
                    <a:srgbClr val="1D617A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TEST DATA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0" y="1029967"/>
              <a:ext cx="6812849" cy="584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2388689" y="7840744"/>
            <a:ext cx="2721571" cy="1162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30"/>
              </a:lnSpc>
              <a:spcBef>
                <a:spcPct val="0"/>
              </a:spcBef>
            </a:pPr>
            <a:r>
              <a:rPr lang="en-US" sz="2235" strike="noStrike" u="none">
                <a:solidFill>
                  <a:srgbClr val="CDE9E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As target was </a:t>
            </a:r>
          </a:p>
          <a:p>
            <a:pPr algn="ctr" marL="0" indent="0" lvl="0">
              <a:lnSpc>
                <a:spcPts val="3130"/>
              </a:lnSpc>
              <a:spcBef>
                <a:spcPct val="0"/>
              </a:spcBef>
            </a:pPr>
            <a:r>
              <a:rPr lang="en-US" sz="2235" strike="noStrike" u="none">
                <a:solidFill>
                  <a:srgbClr val="CDE9E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Categorical, </a:t>
            </a:r>
          </a:p>
          <a:p>
            <a:pPr algn="ctr" marL="0" indent="0" lvl="0">
              <a:lnSpc>
                <a:spcPts val="3130"/>
              </a:lnSpc>
              <a:spcBef>
                <a:spcPct val="0"/>
              </a:spcBef>
            </a:pPr>
            <a:r>
              <a:rPr lang="en-US" sz="2235" strike="noStrike" u="none">
                <a:solidFill>
                  <a:srgbClr val="CDE9E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KN Classifier was used</a:t>
            </a:r>
          </a:p>
        </p:txBody>
      </p:sp>
      <p:sp>
        <p:nvSpPr>
          <p:cNvPr name="AutoShape 44" id="44"/>
          <p:cNvSpPr/>
          <p:nvPr/>
        </p:nvSpPr>
        <p:spPr>
          <a:xfrm flipV="true">
            <a:off x="5765310" y="8301090"/>
            <a:ext cx="666553" cy="19978"/>
          </a:xfrm>
          <a:prstGeom prst="line">
            <a:avLst/>
          </a:prstGeom>
          <a:ln cap="flat" w="38100">
            <a:solidFill>
              <a:srgbClr val="3D6674"/>
            </a:solidFill>
            <a:prstDash val="sysDash"/>
            <a:headEnd type="none" len="sm" w="sm"/>
            <a:tailEnd type="arrow" len="sm" w="med"/>
          </a:ln>
        </p:spPr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E9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0">
            <a:off x="-158265" y="0"/>
            <a:ext cx="18604529" cy="2759111"/>
          </a:xfrm>
          <a:prstGeom prst="rect">
            <a:avLst/>
          </a:prstGeom>
          <a:solidFill>
            <a:srgbClr val="3D654C"/>
          </a:solidFill>
        </p:spPr>
      </p:sp>
      <p:sp>
        <p:nvSpPr>
          <p:cNvPr name="Freeform 3" id="3" descr="brain monoline illustration"/>
          <p:cNvSpPr/>
          <p:nvPr/>
        </p:nvSpPr>
        <p:spPr>
          <a:xfrm flipH="false" flipV="false" rot="0">
            <a:off x="14063446" y="7417134"/>
            <a:ext cx="4692097" cy="3589454"/>
          </a:xfrm>
          <a:custGeom>
            <a:avLst/>
            <a:gdLst/>
            <a:ahLst/>
            <a:cxnLst/>
            <a:rect r="r" b="b" t="t" l="l"/>
            <a:pathLst>
              <a:path h="3589454" w="4692097">
                <a:moveTo>
                  <a:pt x="0" y="0"/>
                </a:moveTo>
                <a:lnTo>
                  <a:pt x="4692097" y="0"/>
                </a:lnTo>
                <a:lnTo>
                  <a:pt x="4692097" y="3589454"/>
                </a:lnTo>
                <a:lnTo>
                  <a:pt x="0" y="35894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947911" y="7417134"/>
            <a:ext cx="3618259" cy="1173964"/>
          </a:xfrm>
          <a:custGeom>
            <a:avLst/>
            <a:gdLst/>
            <a:ahLst/>
            <a:cxnLst/>
            <a:rect r="r" b="b" t="t" l="l"/>
            <a:pathLst>
              <a:path h="1173964" w="3618259">
                <a:moveTo>
                  <a:pt x="0" y="0"/>
                </a:moveTo>
                <a:lnTo>
                  <a:pt x="3618259" y="0"/>
                </a:lnTo>
                <a:lnTo>
                  <a:pt x="3618259" y="1173965"/>
                </a:lnTo>
                <a:lnTo>
                  <a:pt x="0" y="11739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9047" r="-12139" b="-16838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92185" y="4588159"/>
            <a:ext cx="3804386" cy="1110683"/>
          </a:xfrm>
          <a:custGeom>
            <a:avLst/>
            <a:gdLst/>
            <a:ahLst/>
            <a:cxnLst/>
            <a:rect r="r" b="b" t="t" l="l"/>
            <a:pathLst>
              <a:path h="1110683" w="3804386">
                <a:moveTo>
                  <a:pt x="0" y="0"/>
                </a:moveTo>
                <a:lnTo>
                  <a:pt x="3804386" y="0"/>
                </a:lnTo>
                <a:lnTo>
                  <a:pt x="3804386" y="1110682"/>
                </a:lnTo>
                <a:lnTo>
                  <a:pt x="0" y="11106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8375" r="-16145" b="-15433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859240" y="4588159"/>
            <a:ext cx="3858506" cy="1147200"/>
          </a:xfrm>
          <a:custGeom>
            <a:avLst/>
            <a:gdLst/>
            <a:ahLst/>
            <a:cxnLst/>
            <a:rect r="r" b="b" t="t" l="l"/>
            <a:pathLst>
              <a:path h="1147200" w="3858506">
                <a:moveTo>
                  <a:pt x="0" y="0"/>
                </a:moveTo>
                <a:lnTo>
                  <a:pt x="3858506" y="0"/>
                </a:lnTo>
                <a:lnTo>
                  <a:pt x="3858506" y="1147200"/>
                </a:lnTo>
                <a:lnTo>
                  <a:pt x="0" y="11472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9046" r="-18663" b="-30621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203506" y="7417134"/>
            <a:ext cx="3565493" cy="1173964"/>
          </a:xfrm>
          <a:custGeom>
            <a:avLst/>
            <a:gdLst/>
            <a:ahLst/>
            <a:cxnLst/>
            <a:rect r="r" b="b" t="t" l="l"/>
            <a:pathLst>
              <a:path h="1173964" w="3565493">
                <a:moveTo>
                  <a:pt x="0" y="0"/>
                </a:moveTo>
                <a:lnTo>
                  <a:pt x="3565494" y="0"/>
                </a:lnTo>
                <a:lnTo>
                  <a:pt x="3565494" y="1173965"/>
                </a:lnTo>
                <a:lnTo>
                  <a:pt x="0" y="117396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22814" r="-16978" b="-21706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0" y="914400"/>
            <a:ext cx="18262339" cy="1167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60"/>
              </a:lnSpc>
            </a:pPr>
            <a:r>
              <a:rPr lang="en-US" sz="6900" i="true" spc="759">
                <a:solidFill>
                  <a:srgbClr val="CDE9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MODEL COMPARISON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897475" y="1047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CDE9E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53278" y="3667756"/>
            <a:ext cx="2943292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b="true" sz="3300" spc="297">
                <a:solidFill>
                  <a:srgbClr val="1D617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KNN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488423" y="6558565"/>
            <a:ext cx="4854202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b="true" sz="3300" spc="297">
                <a:solidFill>
                  <a:srgbClr val="1D617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LINEAR REGRESSION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21217" y="3667756"/>
            <a:ext cx="6765111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b="true" sz="3300" spc="297">
                <a:solidFill>
                  <a:srgbClr val="1D617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RANDOMFOREST CLASSIFIER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94189" y="6558565"/>
            <a:ext cx="6765111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b="true" sz="3300" spc="297">
                <a:solidFill>
                  <a:srgbClr val="1D617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DECISIONTREE CLASSIFIER</a:t>
            </a:r>
          </a:p>
        </p:txBody>
      </p:sp>
      <p:sp>
        <p:nvSpPr>
          <p:cNvPr name="AutoShape 14" id="14"/>
          <p:cNvSpPr/>
          <p:nvPr/>
        </p:nvSpPr>
        <p:spPr>
          <a:xfrm>
            <a:off x="7859240" y="5698841"/>
            <a:ext cx="3858506" cy="36518"/>
          </a:xfrm>
          <a:prstGeom prst="line">
            <a:avLst/>
          </a:prstGeom>
          <a:ln cap="flat" w="95250">
            <a:solidFill>
              <a:srgbClr val="FF3131"/>
            </a:solidFill>
            <a:prstDash val="solid"/>
            <a:headEnd type="diamond" len="lg" w="lg"/>
            <a:tailEnd type="diamond" len="lg" w="lg"/>
          </a:ln>
        </p:spPr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E9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0">
            <a:off x="-158265" y="0"/>
            <a:ext cx="18446265" cy="2759111"/>
          </a:xfrm>
          <a:prstGeom prst="rect">
            <a:avLst/>
          </a:prstGeom>
          <a:solidFill>
            <a:srgbClr val="3D654C"/>
          </a:solidFill>
        </p:spPr>
      </p:sp>
      <p:sp>
        <p:nvSpPr>
          <p:cNvPr name="Freeform 3" id="3" descr="brain monoline illustration"/>
          <p:cNvSpPr/>
          <p:nvPr/>
        </p:nvSpPr>
        <p:spPr>
          <a:xfrm flipH="false" flipV="false" rot="0">
            <a:off x="14063446" y="7417134"/>
            <a:ext cx="4692097" cy="3589454"/>
          </a:xfrm>
          <a:custGeom>
            <a:avLst/>
            <a:gdLst/>
            <a:ahLst/>
            <a:cxnLst/>
            <a:rect r="r" b="b" t="t" l="l"/>
            <a:pathLst>
              <a:path h="3589454" w="4692097">
                <a:moveTo>
                  <a:pt x="0" y="0"/>
                </a:moveTo>
                <a:lnTo>
                  <a:pt x="4692097" y="0"/>
                </a:lnTo>
                <a:lnTo>
                  <a:pt x="4692097" y="3589454"/>
                </a:lnTo>
                <a:lnTo>
                  <a:pt x="0" y="35894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97181" y="4141313"/>
            <a:ext cx="5369385" cy="983501"/>
          </a:xfrm>
          <a:custGeom>
            <a:avLst/>
            <a:gdLst/>
            <a:ahLst/>
            <a:cxnLst/>
            <a:rect r="r" b="b" t="t" l="l"/>
            <a:pathLst>
              <a:path h="983501" w="5369385">
                <a:moveTo>
                  <a:pt x="0" y="0"/>
                </a:moveTo>
                <a:lnTo>
                  <a:pt x="5369385" y="0"/>
                </a:lnTo>
                <a:lnTo>
                  <a:pt x="5369385" y="983501"/>
                </a:lnTo>
                <a:lnTo>
                  <a:pt x="0" y="9835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194273" y="6978552"/>
            <a:ext cx="5592774" cy="980723"/>
          </a:xfrm>
          <a:custGeom>
            <a:avLst/>
            <a:gdLst/>
            <a:ahLst/>
            <a:cxnLst/>
            <a:rect r="r" b="b" t="t" l="l"/>
            <a:pathLst>
              <a:path h="980723" w="5592774">
                <a:moveTo>
                  <a:pt x="0" y="0"/>
                </a:moveTo>
                <a:lnTo>
                  <a:pt x="5592773" y="0"/>
                </a:lnTo>
                <a:lnTo>
                  <a:pt x="5592773" y="980724"/>
                </a:lnTo>
                <a:lnTo>
                  <a:pt x="0" y="9807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 flipV="true">
            <a:off x="3194273" y="7997376"/>
            <a:ext cx="5592774" cy="0"/>
          </a:xfrm>
          <a:prstGeom prst="line">
            <a:avLst/>
          </a:prstGeom>
          <a:ln cap="flat" w="95250">
            <a:solidFill>
              <a:srgbClr val="FF3131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6869348" y="4141313"/>
            <a:ext cx="5343683" cy="983501"/>
          </a:xfrm>
          <a:custGeom>
            <a:avLst/>
            <a:gdLst/>
            <a:ahLst/>
            <a:cxnLst/>
            <a:rect r="r" b="b" t="t" l="l"/>
            <a:pathLst>
              <a:path h="983501" w="5343683">
                <a:moveTo>
                  <a:pt x="0" y="0"/>
                </a:moveTo>
                <a:lnTo>
                  <a:pt x="5343683" y="0"/>
                </a:lnTo>
                <a:lnTo>
                  <a:pt x="5343683" y="983501"/>
                </a:lnTo>
                <a:lnTo>
                  <a:pt x="0" y="9835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491" r="-4092" b="-1438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219442" y="6986239"/>
            <a:ext cx="5505104" cy="965350"/>
          </a:xfrm>
          <a:custGeom>
            <a:avLst/>
            <a:gdLst/>
            <a:ahLst/>
            <a:cxnLst/>
            <a:rect r="r" b="b" t="t" l="l"/>
            <a:pathLst>
              <a:path h="965350" w="5505104">
                <a:moveTo>
                  <a:pt x="0" y="0"/>
                </a:moveTo>
                <a:lnTo>
                  <a:pt x="5505105" y="0"/>
                </a:lnTo>
                <a:lnTo>
                  <a:pt x="5505105" y="965350"/>
                </a:lnTo>
                <a:lnTo>
                  <a:pt x="0" y="9653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0" y="914400"/>
            <a:ext cx="18262339" cy="1167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60"/>
              </a:lnSpc>
            </a:pPr>
            <a:r>
              <a:rPr lang="en-US" sz="6900" i="true" spc="759">
                <a:solidFill>
                  <a:srgbClr val="CDE9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ENSEMBLE </a:t>
            </a:r>
            <a:r>
              <a:rPr lang="en-US" sz="6900" i="true" spc="759">
                <a:solidFill>
                  <a:srgbClr val="CDE9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METHODS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897475" y="1047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CDE9E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7181" y="3282158"/>
            <a:ext cx="5013444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b="true" sz="3300" spc="297">
                <a:solidFill>
                  <a:srgbClr val="1D617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BAGGING CLASSIFIER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40625" y="6111719"/>
            <a:ext cx="6700565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b="true" sz="3300" spc="297">
                <a:solidFill>
                  <a:srgbClr val="1D617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RANDOMFOREST CLASSIFIER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121158" y="3282158"/>
            <a:ext cx="6765111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b="true" sz="3300" spc="297">
                <a:solidFill>
                  <a:srgbClr val="1D617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ADABOOST CLASSIFIER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336254" y="6111719"/>
            <a:ext cx="7473434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b="true" sz="3300" spc="297">
                <a:solidFill>
                  <a:srgbClr val="1D617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GRADIENTBOOSTING CLASSIFIER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67543" y="8387901"/>
            <a:ext cx="18288000" cy="1695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1D617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Grid Search and Random Search were performed to optimize hyperparameters, but the model performance remained almost the same as the default configuration.</a:t>
            </a:r>
          </a:p>
          <a:p>
            <a:pPr algn="l">
              <a:lnSpc>
                <a:spcPts val="4500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E9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0">
            <a:off x="-158265" y="0"/>
            <a:ext cx="18604529" cy="2759111"/>
          </a:xfrm>
          <a:prstGeom prst="rect">
            <a:avLst/>
          </a:prstGeom>
          <a:solidFill>
            <a:srgbClr val="3D654C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0" y="313055"/>
            <a:ext cx="18262339" cy="2360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20"/>
              </a:lnSpc>
            </a:pPr>
            <a:r>
              <a:rPr lang="en-US" sz="6800" i="true" spc="748">
                <a:solidFill>
                  <a:srgbClr val="CDE9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MODEL DEPLOYMENT WITH STREAMLIT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897475" y="1047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CDE9E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8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552575" y="4035226"/>
            <a:ext cx="5939019" cy="2105567"/>
            <a:chOff x="0" y="0"/>
            <a:chExt cx="1564186" cy="554553"/>
          </a:xfrm>
        </p:grpSpPr>
        <p:sp>
          <p:nvSpPr>
            <p:cNvPr name="Freeform 6" id="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564186" cy="554553"/>
            </a:xfrm>
            <a:custGeom>
              <a:avLst/>
              <a:gdLst/>
              <a:ahLst/>
              <a:cxnLst/>
              <a:rect r="r" b="b" t="t" l="l"/>
              <a:pathLst>
                <a:path h="554553" w="1564186">
                  <a:moveTo>
                    <a:pt x="0" y="0"/>
                  </a:moveTo>
                  <a:lnTo>
                    <a:pt x="1564186" y="0"/>
                  </a:lnTo>
                  <a:lnTo>
                    <a:pt x="1564186" y="554553"/>
                  </a:lnTo>
                  <a:lnTo>
                    <a:pt x="0" y="554553"/>
                  </a:lnTo>
                  <a:close/>
                </a:path>
              </a:pathLst>
            </a:custGeom>
            <a:solidFill>
              <a:srgbClr val="3D654C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1564186" cy="6021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39749" indent="-269875" lvl="1">
                <a:lnSpc>
                  <a:spcPts val="3499"/>
                </a:lnSpc>
                <a:buAutoNum type="arabicPeriod" startAt="1"/>
              </a:pPr>
              <a:r>
                <a:rPr lang="en-US" sz="2499" spc="199">
                  <a:solidFill>
                    <a:srgbClr val="CDE9E8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Save Encoder as a Pickle File</a:t>
              </a:r>
            </a:p>
            <a:p>
              <a:pPr algn="l" marL="539749" indent="-269875" lvl="1">
                <a:lnSpc>
                  <a:spcPts val="3499"/>
                </a:lnSpc>
                <a:buAutoNum type="arabicPeriod" startAt="1"/>
              </a:pPr>
              <a:r>
                <a:rPr lang="en-US" sz="2499" spc="199">
                  <a:solidFill>
                    <a:srgbClr val="CDE9E8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Save Normalizer as a Pickle File</a:t>
              </a:r>
            </a:p>
            <a:p>
              <a:pPr algn="l" marL="539749" indent="-269875" lvl="1">
                <a:lnSpc>
                  <a:spcPts val="3499"/>
                </a:lnSpc>
                <a:buAutoNum type="arabicPeriod" startAt="1"/>
              </a:pPr>
              <a:r>
                <a:rPr lang="en-US" sz="2499" spc="199">
                  <a:solidFill>
                    <a:srgbClr val="CDE9E8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Save Model as Pickle File</a:t>
              </a:r>
            </a:p>
            <a:p>
              <a:pPr algn="l" marL="539749" indent="-269875" lvl="1">
                <a:lnSpc>
                  <a:spcPts val="3499"/>
                </a:lnSpc>
                <a:buAutoNum type="arabicPeriod" startAt="1"/>
              </a:pPr>
              <a:r>
                <a:rPr lang="en-US" sz="2499" spc="199">
                  <a:solidFill>
                    <a:srgbClr val="CDE9E8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Import Functions from PY File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967266" y="3372763"/>
            <a:ext cx="5109637" cy="554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b="true" sz="3300" spc="297">
                <a:solidFill>
                  <a:srgbClr val="1D617A"/>
                </a:solidFill>
                <a:latin typeface="Nourd Bold"/>
                <a:ea typeface="Nourd Bold"/>
                <a:cs typeface="Nourd Bold"/>
                <a:sym typeface="Nourd Bold"/>
              </a:rPr>
              <a:t>MAIN NOTEBOOK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275073" y="7132871"/>
            <a:ext cx="5109637" cy="1163001"/>
            <a:chOff x="0" y="0"/>
            <a:chExt cx="6812849" cy="1550667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-66675"/>
              <a:ext cx="6812849" cy="729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20"/>
                </a:lnSpc>
              </a:pPr>
              <a:r>
                <a:rPr lang="en-US" b="true" sz="3300" spc="297">
                  <a:solidFill>
                    <a:srgbClr val="1D617A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PY FILE(FUNCTIONS)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966467"/>
              <a:ext cx="6812849" cy="584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5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860382" y="7714371"/>
            <a:ext cx="5939019" cy="2073719"/>
            <a:chOff x="0" y="0"/>
            <a:chExt cx="1564186" cy="546165"/>
          </a:xfrm>
        </p:grpSpPr>
        <p:sp>
          <p:nvSpPr>
            <p:cNvPr name="Freeform 13" id="13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564186" cy="546165"/>
            </a:xfrm>
            <a:custGeom>
              <a:avLst/>
              <a:gdLst/>
              <a:ahLst/>
              <a:cxnLst/>
              <a:rect r="r" b="b" t="t" l="l"/>
              <a:pathLst>
                <a:path h="546165" w="1564186">
                  <a:moveTo>
                    <a:pt x="0" y="0"/>
                  </a:moveTo>
                  <a:lnTo>
                    <a:pt x="1564186" y="0"/>
                  </a:lnTo>
                  <a:lnTo>
                    <a:pt x="1564186" y="546165"/>
                  </a:lnTo>
                  <a:lnTo>
                    <a:pt x="0" y="546165"/>
                  </a:lnTo>
                  <a:close/>
                </a:path>
              </a:pathLst>
            </a:custGeom>
            <a:solidFill>
              <a:srgbClr val="3D654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1564186" cy="5937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39749" indent="-269875" lvl="1">
                <a:lnSpc>
                  <a:spcPts val="3499"/>
                </a:lnSpc>
                <a:buAutoNum type="arabicPeriod" startAt="1"/>
              </a:pPr>
              <a:r>
                <a:rPr lang="en-US" sz="2499" spc="199">
                  <a:solidFill>
                    <a:srgbClr val="CDE9E8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One-hot encoder Function</a:t>
              </a:r>
            </a:p>
            <a:p>
              <a:pPr algn="l" marL="539749" indent="-269875" lvl="1">
                <a:lnSpc>
                  <a:spcPts val="3499"/>
                </a:lnSpc>
                <a:buAutoNum type="arabicPeriod" startAt="1"/>
              </a:pPr>
              <a:r>
                <a:rPr lang="en-US" sz="2499" spc="199">
                  <a:solidFill>
                    <a:srgbClr val="CDE9E8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Normalizer Function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535267" y="4035226"/>
            <a:ext cx="5939019" cy="2073719"/>
            <a:chOff x="0" y="0"/>
            <a:chExt cx="1564186" cy="546165"/>
          </a:xfrm>
        </p:grpSpPr>
        <p:sp>
          <p:nvSpPr>
            <p:cNvPr name="Freeform 16" id="16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 flipH="false" flipV="false" rot="0">
              <a:off x="0" y="0"/>
              <a:ext cx="1564186" cy="546165"/>
            </a:xfrm>
            <a:custGeom>
              <a:avLst/>
              <a:gdLst/>
              <a:ahLst/>
              <a:cxnLst/>
              <a:rect r="r" b="b" t="t" l="l"/>
              <a:pathLst>
                <a:path h="546165" w="1564186">
                  <a:moveTo>
                    <a:pt x="0" y="0"/>
                  </a:moveTo>
                  <a:lnTo>
                    <a:pt x="1564186" y="0"/>
                  </a:lnTo>
                  <a:lnTo>
                    <a:pt x="1564186" y="546165"/>
                  </a:lnTo>
                  <a:lnTo>
                    <a:pt x="0" y="546165"/>
                  </a:lnTo>
                  <a:close/>
                </a:path>
              </a:pathLst>
            </a:custGeom>
            <a:solidFill>
              <a:srgbClr val="3D654C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1564186" cy="59379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 marL="539749" indent="-269875" lvl="1">
                <a:lnSpc>
                  <a:spcPts val="3499"/>
                </a:lnSpc>
                <a:buAutoNum type="arabicPeriod" startAt="1"/>
              </a:pPr>
              <a:r>
                <a:rPr lang="en-US" sz="2499" spc="199">
                  <a:solidFill>
                    <a:srgbClr val="CDE9E8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Load Pickle Files - Encoder, Normalizer and Model</a:t>
              </a:r>
            </a:p>
            <a:p>
              <a:pPr algn="l" marL="539749" indent="-269875" lvl="1">
                <a:lnSpc>
                  <a:spcPts val="3499"/>
                </a:lnSpc>
                <a:buAutoNum type="arabicPeriod" startAt="1"/>
              </a:pPr>
              <a:r>
                <a:rPr lang="en-US" sz="2499" spc="199">
                  <a:solidFill>
                    <a:srgbClr val="CDE9E8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Import Functions from PY File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949958" y="3421818"/>
            <a:ext cx="5109637" cy="1163001"/>
            <a:chOff x="0" y="0"/>
            <a:chExt cx="6812849" cy="1550667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-66675"/>
              <a:ext cx="6812849" cy="729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20"/>
                </a:lnSpc>
              </a:pPr>
              <a:r>
                <a:rPr lang="en-US" b="true" sz="3300" spc="297">
                  <a:solidFill>
                    <a:srgbClr val="1D617A"/>
                  </a:solidFill>
                  <a:latin typeface="Glacial Indifference Bold"/>
                  <a:ea typeface="Glacial Indifference Bold"/>
                  <a:cs typeface="Glacial Indifference Bold"/>
                  <a:sym typeface="Glacial Indifference Bold"/>
                </a:rPr>
                <a:t>STREAMLIT PY FILE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966467"/>
              <a:ext cx="6812849" cy="584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50"/>
                </a:lnSpc>
              </a:pPr>
            </a:p>
          </p:txBody>
        </p:sp>
      </p:grpSp>
      <p:sp>
        <p:nvSpPr>
          <p:cNvPr name="AutoShape 21" id="21"/>
          <p:cNvSpPr/>
          <p:nvPr/>
        </p:nvSpPr>
        <p:spPr>
          <a:xfrm flipV="true">
            <a:off x="7491594" y="5072086"/>
            <a:ext cx="3043673" cy="1592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2" id="22"/>
          <p:cNvSpPr/>
          <p:nvPr/>
        </p:nvSpPr>
        <p:spPr>
          <a:xfrm flipV="true">
            <a:off x="11172237" y="6108945"/>
            <a:ext cx="2332540" cy="160542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3" id="23"/>
          <p:cNvSpPr/>
          <p:nvPr/>
        </p:nvSpPr>
        <p:spPr>
          <a:xfrm flipH="true" flipV="true">
            <a:off x="4522084" y="6140793"/>
            <a:ext cx="2116298" cy="179651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Freeform 24" id="24" descr="brain monoline illustration"/>
          <p:cNvSpPr/>
          <p:nvPr/>
        </p:nvSpPr>
        <p:spPr>
          <a:xfrm flipH="false" flipV="false" rot="0">
            <a:off x="14063446" y="7417134"/>
            <a:ext cx="4692097" cy="3589454"/>
          </a:xfrm>
          <a:custGeom>
            <a:avLst/>
            <a:gdLst/>
            <a:ahLst/>
            <a:cxnLst/>
            <a:rect r="r" b="b" t="t" l="l"/>
            <a:pathLst>
              <a:path h="3589454" w="4692097">
                <a:moveTo>
                  <a:pt x="0" y="0"/>
                </a:moveTo>
                <a:lnTo>
                  <a:pt x="4692097" y="0"/>
                </a:lnTo>
                <a:lnTo>
                  <a:pt x="4692097" y="3589454"/>
                </a:lnTo>
                <a:lnTo>
                  <a:pt x="0" y="35894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E9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0">
            <a:off x="0" y="9546582"/>
            <a:ext cx="18858879" cy="740418"/>
          </a:xfrm>
          <a:prstGeom prst="rect">
            <a:avLst/>
          </a:prstGeom>
          <a:solidFill>
            <a:srgbClr val="3D654C"/>
          </a:solidFill>
        </p:spPr>
      </p:sp>
      <p:sp>
        <p:nvSpPr>
          <p:cNvPr name="Freeform 3" id="3" descr="brain monoline illustration"/>
          <p:cNvSpPr/>
          <p:nvPr/>
        </p:nvSpPr>
        <p:spPr>
          <a:xfrm flipH="false" flipV="false" rot="0">
            <a:off x="5079397" y="2034079"/>
            <a:ext cx="8129206" cy="6218843"/>
          </a:xfrm>
          <a:custGeom>
            <a:avLst/>
            <a:gdLst/>
            <a:ahLst/>
            <a:cxnLst/>
            <a:rect r="r" b="b" t="t" l="l"/>
            <a:pathLst>
              <a:path h="6218843" w="8129206">
                <a:moveTo>
                  <a:pt x="0" y="0"/>
                </a:moveTo>
                <a:lnTo>
                  <a:pt x="8129206" y="0"/>
                </a:lnTo>
                <a:lnTo>
                  <a:pt x="8129206" y="6218842"/>
                </a:lnTo>
                <a:lnTo>
                  <a:pt x="0" y="621884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114308" y="4031218"/>
            <a:ext cx="14059385" cy="2224563"/>
            <a:chOff x="0" y="0"/>
            <a:chExt cx="18745846" cy="2966085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142875"/>
              <a:ext cx="18745846" cy="16668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500"/>
                </a:lnSpc>
              </a:pPr>
              <a:r>
                <a:rPr lang="en-US" sz="7500" i="true" spc="825">
                  <a:solidFill>
                    <a:srgbClr val="1D617A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LINK TO STREAMLIT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499371" y="2236470"/>
              <a:ext cx="17747105" cy="729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2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720633" y="5543947"/>
            <a:ext cx="10846735" cy="711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19"/>
              </a:lnSpc>
            </a:pPr>
            <a:r>
              <a:rPr lang="en-US" sz="3999" i="true" spc="39" u="sng">
                <a:solidFill>
                  <a:srgbClr val="1D617A"/>
                </a:solidFill>
                <a:latin typeface="Glacial Indifference Italics"/>
                <a:ea typeface="Glacial Indifference Italics"/>
                <a:cs typeface="Glacial Indifference Italics"/>
                <a:sym typeface="Glacial Indifference Italics"/>
                <a:hlinkClick r:id="rId4" tooltip="https://mentalhealthmlproject.streamlit.app"/>
              </a:rPr>
              <a:t>mentalhealthmlproject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897475" y="1047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3D654C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9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E9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0">
            <a:off x="-158265" y="0"/>
            <a:ext cx="18604529" cy="2727263"/>
          </a:xfrm>
          <a:prstGeom prst="rect">
            <a:avLst/>
          </a:prstGeom>
          <a:solidFill>
            <a:srgbClr val="3D654C"/>
          </a:solidFill>
        </p:spPr>
      </p:sp>
      <p:sp>
        <p:nvSpPr>
          <p:cNvPr name="Freeform 3" id="3" descr="brain monoline illustration"/>
          <p:cNvSpPr/>
          <p:nvPr/>
        </p:nvSpPr>
        <p:spPr>
          <a:xfrm flipH="false" flipV="false" rot="0">
            <a:off x="14063446" y="7417134"/>
            <a:ext cx="4692097" cy="3589454"/>
          </a:xfrm>
          <a:custGeom>
            <a:avLst/>
            <a:gdLst/>
            <a:ahLst/>
            <a:cxnLst/>
            <a:rect r="r" b="b" t="t" l="l"/>
            <a:pathLst>
              <a:path h="3589454" w="4692097">
                <a:moveTo>
                  <a:pt x="0" y="0"/>
                </a:moveTo>
                <a:lnTo>
                  <a:pt x="4692097" y="0"/>
                </a:lnTo>
                <a:lnTo>
                  <a:pt x="4692097" y="3589454"/>
                </a:lnTo>
                <a:lnTo>
                  <a:pt x="0" y="35894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0" y="914159"/>
            <a:ext cx="18288000" cy="1167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60"/>
              </a:lnSpc>
            </a:pPr>
            <a:r>
              <a:rPr lang="en-US" sz="6900" i="true" spc="759">
                <a:solidFill>
                  <a:srgbClr val="CDE9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LEARNINGS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898384"/>
            <a:ext cx="10908568" cy="417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1D617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Model perf</a:t>
            </a:r>
            <a:r>
              <a:rPr lang="en-US" sz="3000" spc="30">
                <a:solidFill>
                  <a:srgbClr val="1D617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</a:t>
            </a:r>
            <a:r>
              <a:rPr lang="en-US" sz="3000" spc="30">
                <a:solidFill>
                  <a:srgbClr val="1D617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rmance depends heavily on how well you clean and encode data, not just the algorithm.</a:t>
            </a:r>
          </a:p>
          <a:p>
            <a:pPr algn="l">
              <a:lnSpc>
                <a:spcPts val="3000"/>
              </a:lnSpc>
            </a:pP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1D617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Model choice affects interpretation.</a:t>
            </a:r>
          </a:p>
          <a:p>
            <a:pPr algn="l">
              <a:lnSpc>
                <a:spcPts val="3000"/>
              </a:lnSpc>
            </a:pPr>
          </a:p>
          <a:p>
            <a:pPr algn="l" marL="647700" indent="-323850" lvl="1">
              <a:lnSpc>
                <a:spcPts val="4500"/>
              </a:lnSpc>
              <a:buFont typeface="Arial"/>
              <a:buChar char="•"/>
            </a:pPr>
            <a:r>
              <a:rPr lang="en-US" sz="3000" spc="30">
                <a:solidFill>
                  <a:srgbClr val="1D617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Human-centered data is complex and non-linear—simple rules rarely apply.</a:t>
            </a:r>
          </a:p>
          <a:p>
            <a:pPr algn="l">
              <a:lnSpc>
                <a:spcPts val="4500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7897475" y="1047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CDE9E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10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DE9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0">
            <a:off x="12711821" y="-87612"/>
            <a:ext cx="5576179" cy="10462224"/>
          </a:xfrm>
          <a:prstGeom prst="rect">
            <a:avLst/>
          </a:prstGeom>
          <a:solidFill>
            <a:srgbClr val="3D654C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1028700" y="3496930"/>
            <a:ext cx="10846735" cy="1646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84"/>
              </a:lnSpc>
            </a:pPr>
            <a:r>
              <a:rPr lang="en-US" sz="9499" i="true" spc="94">
                <a:solidFill>
                  <a:srgbClr val="1D61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948586" y="1000125"/>
            <a:ext cx="5339414" cy="611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i="true" spc="216">
                <a:solidFill>
                  <a:srgbClr val="CDE9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“PATTERNS C</a:t>
            </a:r>
            <a:r>
              <a:rPr lang="en-US" b="true" sz="1800" i="true" spc="216">
                <a:solidFill>
                  <a:srgbClr val="CDE9E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OME FROM DATA; SOLUTIONS COME FROM EMPATHY”</a:t>
            </a:r>
          </a:p>
        </p:txBody>
      </p:sp>
      <p:sp>
        <p:nvSpPr>
          <p:cNvPr name="AutoShape 5" id="5"/>
          <p:cNvSpPr/>
          <p:nvPr/>
        </p:nvSpPr>
        <p:spPr>
          <a:xfrm rot="0">
            <a:off x="1028700" y="5534025"/>
            <a:ext cx="10606648" cy="33891"/>
          </a:xfrm>
          <a:prstGeom prst="rect">
            <a:avLst/>
          </a:prstGeom>
          <a:solidFill>
            <a:srgbClr val="3D654C"/>
          </a:solidFill>
        </p:spPr>
      </p:sp>
      <p:sp>
        <p:nvSpPr>
          <p:cNvPr name="TextBox 6" id="6"/>
          <p:cNvSpPr txBox="true"/>
          <p:nvPr/>
        </p:nvSpPr>
        <p:spPr>
          <a:xfrm rot="0">
            <a:off x="1267953" y="5863191"/>
            <a:ext cx="10846735" cy="702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19"/>
              </a:lnSpc>
            </a:pPr>
            <a:r>
              <a:rPr lang="en-US" sz="3999" i="true" spc="39">
                <a:solidFill>
                  <a:srgbClr val="1D617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Questions?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851902" y="8915717"/>
            <a:ext cx="6584195" cy="427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34"/>
              </a:lnSpc>
            </a:pPr>
            <a:r>
              <a:rPr lang="en-US" sz="2900" spc="203">
                <a:solidFill>
                  <a:srgbClr val="1D617A">
                    <a:alpha val="68627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-</a:t>
            </a:r>
            <a:r>
              <a:rPr lang="en-US" sz="2900" spc="203">
                <a:solidFill>
                  <a:srgbClr val="1D617A">
                    <a:alpha val="68627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Supriya Gir</a:t>
            </a:r>
          </a:p>
        </p:txBody>
      </p:sp>
      <p:sp>
        <p:nvSpPr>
          <p:cNvPr name="Freeform 8" id="8"/>
          <p:cNvSpPr/>
          <p:nvPr/>
        </p:nvSpPr>
        <p:spPr>
          <a:xfrm flipH="true" flipV="false" rot="-235649">
            <a:off x="13778855" y="5214534"/>
            <a:ext cx="3335603" cy="4343704"/>
          </a:xfrm>
          <a:custGeom>
            <a:avLst/>
            <a:gdLst/>
            <a:ahLst/>
            <a:cxnLst/>
            <a:rect r="r" b="b" t="t" l="l"/>
            <a:pathLst>
              <a:path h="4343704" w="3335603">
                <a:moveTo>
                  <a:pt x="3335603" y="0"/>
                </a:moveTo>
                <a:lnTo>
                  <a:pt x="0" y="0"/>
                </a:lnTo>
                <a:lnTo>
                  <a:pt x="0" y="4343704"/>
                </a:lnTo>
                <a:lnTo>
                  <a:pt x="3335603" y="4343704"/>
                </a:lnTo>
                <a:lnTo>
                  <a:pt x="3335603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42830" y="8915717"/>
            <a:ext cx="3908922" cy="427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34"/>
              </a:lnSpc>
            </a:pPr>
            <a:r>
              <a:rPr lang="en-US" sz="2900" spc="203" u="sng">
                <a:solidFill>
                  <a:srgbClr val="1D617A">
                    <a:alpha val="68627"/>
                  </a:srgbClr>
                </a:solidFill>
                <a:latin typeface="Glacial Indifference"/>
                <a:ea typeface="Glacial Indifference"/>
                <a:cs typeface="Glacial Indifference"/>
                <a:sym typeface="Glacial Indifference"/>
                <a:hlinkClick r:id="rId3" tooltip="https://github.com/SupriyaGiri14/Mental_Health_ML_Project"/>
              </a:rPr>
              <a:t>GitHub Repo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897475" y="1047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CDE9E8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11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DAHJG9t6A8g</dc:identifier>
  <dcterms:modified xsi:type="dcterms:W3CDTF">2011-08-01T06:04:30Z</dcterms:modified>
  <cp:revision>1</cp:revision>
  <dc:title>Mental_Health_MLProject</dc:title>
</cp:coreProperties>
</file>
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hkio" charset="1" panose="00000000000000000000"/>
      <p:regular r:id="rId16"/>
    </p:embeddedFont>
    <p:embeddedFont>
      <p:font typeface="Futura" charset="1" panose="020B0502020204020303"/>
      <p:regular r:id="rId17"/>
    </p:embeddedFont>
    <p:embeddedFont>
      <p:font typeface="Futura Bold" charset="1" panose="020B0702020204020203"/>
      <p:regular r:id="rId18"/>
    </p:embeddedFont>
    <p:embeddedFont>
      <p:font typeface="Ahkio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https://github.com/SupriyaGiri14/Book_Recommender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23582" y="51970"/>
            <a:ext cx="20274767" cy="11129825"/>
            <a:chOff x="0" y="0"/>
            <a:chExt cx="27033022" cy="148397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033022" cy="14839767"/>
            </a:xfrm>
            <a:custGeom>
              <a:avLst/>
              <a:gdLst/>
              <a:ahLst/>
              <a:cxnLst/>
              <a:rect r="r" b="b" t="t" l="l"/>
              <a:pathLst>
                <a:path h="14839767" w="27033022">
                  <a:moveTo>
                    <a:pt x="0" y="0"/>
                  </a:moveTo>
                  <a:lnTo>
                    <a:pt x="27033022" y="0"/>
                  </a:lnTo>
                  <a:lnTo>
                    <a:pt x="27033022" y="14839767"/>
                  </a:lnTo>
                  <a:lnTo>
                    <a:pt x="0" y="148397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-52357"/>
              </a:stretch>
            </a:blipFill>
          </p:spPr>
        </p:sp>
        <p:grpSp>
          <p:nvGrpSpPr>
            <p:cNvPr name="Group 4" id="4"/>
            <p:cNvGrpSpPr/>
            <p:nvPr/>
          </p:nvGrpSpPr>
          <p:grpSpPr>
            <a:xfrm rot="0">
              <a:off x="10737212" y="4633105"/>
              <a:ext cx="4114800" cy="9188330"/>
              <a:chOff x="0" y="0"/>
              <a:chExt cx="812800" cy="1814979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1814979"/>
              </a:xfrm>
              <a:custGeom>
                <a:avLst/>
                <a:gdLst/>
                <a:ahLst/>
                <a:cxnLst/>
                <a:rect r="r" b="b" t="t" l="l"/>
                <a:pathLst>
                  <a:path h="1814979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814979"/>
                    </a:lnTo>
                    <a:lnTo>
                      <a:pt x="0" y="181497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812800" cy="18626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10737212" y="4188958"/>
              <a:ext cx="4114800" cy="10070510"/>
              <a:chOff x="0" y="0"/>
              <a:chExt cx="812800" cy="198923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1989237"/>
              </a:xfrm>
              <a:custGeom>
                <a:avLst/>
                <a:gdLst/>
                <a:ahLst/>
                <a:cxnLst/>
                <a:rect r="r" b="b" t="t" l="l"/>
                <a:pathLst>
                  <a:path h="1989237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989237"/>
                    </a:lnTo>
                    <a:lnTo>
                      <a:pt x="0" y="198923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19050"/>
                <a:ext cx="812800" cy="200828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0"/>
                  </a:lnSpc>
                </a:pPr>
              </a:p>
            </p:txBody>
          </p:sp>
        </p:grpSp>
      </p:grpSp>
      <p:sp>
        <p:nvSpPr>
          <p:cNvPr name="Freeform 10" id="10"/>
          <p:cNvSpPr/>
          <p:nvPr/>
        </p:nvSpPr>
        <p:spPr>
          <a:xfrm flipH="false" flipV="false" rot="1106214">
            <a:off x="424927" y="1341141"/>
            <a:ext cx="3744152" cy="3294854"/>
          </a:xfrm>
          <a:custGeom>
            <a:avLst/>
            <a:gdLst/>
            <a:ahLst/>
            <a:cxnLst/>
            <a:rect r="r" b="b" t="t" l="l"/>
            <a:pathLst>
              <a:path h="3294854" w="3744152">
                <a:moveTo>
                  <a:pt x="0" y="0"/>
                </a:moveTo>
                <a:lnTo>
                  <a:pt x="3744152" y="0"/>
                </a:lnTo>
                <a:lnTo>
                  <a:pt x="3744152" y="3294854"/>
                </a:lnTo>
                <a:lnTo>
                  <a:pt x="0" y="32948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2001622">
            <a:off x="14551605" y="43675"/>
            <a:ext cx="3711437" cy="4174418"/>
          </a:xfrm>
          <a:custGeom>
            <a:avLst/>
            <a:gdLst/>
            <a:ahLst/>
            <a:cxnLst/>
            <a:rect r="r" b="b" t="t" l="l"/>
            <a:pathLst>
              <a:path h="4174418" w="3711437">
                <a:moveTo>
                  <a:pt x="3711437" y="0"/>
                </a:moveTo>
                <a:lnTo>
                  <a:pt x="0" y="0"/>
                </a:lnTo>
                <a:lnTo>
                  <a:pt x="0" y="4174418"/>
                </a:lnTo>
                <a:lnTo>
                  <a:pt x="3711437" y="4174418"/>
                </a:lnTo>
                <a:lnTo>
                  <a:pt x="371143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59104" y="2318933"/>
            <a:ext cx="3318928" cy="2763762"/>
          </a:xfrm>
          <a:custGeom>
            <a:avLst/>
            <a:gdLst/>
            <a:ahLst/>
            <a:cxnLst/>
            <a:rect r="r" b="b" t="t" l="l"/>
            <a:pathLst>
              <a:path h="2763762" w="3318928">
                <a:moveTo>
                  <a:pt x="0" y="0"/>
                </a:moveTo>
                <a:lnTo>
                  <a:pt x="3318928" y="0"/>
                </a:lnTo>
                <a:lnTo>
                  <a:pt x="3318928" y="2763761"/>
                </a:lnTo>
                <a:lnTo>
                  <a:pt x="0" y="27637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561511" y="3775424"/>
            <a:ext cx="13164977" cy="3193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50"/>
              </a:lnSpc>
              <a:spcBef>
                <a:spcPct val="0"/>
              </a:spcBef>
            </a:pPr>
            <a:r>
              <a:rPr lang="en-US" sz="12150" strike="noStrike" u="none">
                <a:solidFill>
                  <a:srgbClr val="101010"/>
                </a:solidFill>
                <a:latin typeface="Ahkio"/>
                <a:ea typeface="Ahkio"/>
                <a:cs typeface="Ahkio"/>
                <a:sym typeface="Ahkio"/>
              </a:rPr>
              <a:t>MY BOOK RECOMMENDER APP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-523538">
            <a:off x="670601" y="6919453"/>
            <a:ext cx="1880800" cy="2329820"/>
          </a:xfrm>
          <a:custGeom>
            <a:avLst/>
            <a:gdLst/>
            <a:ahLst/>
            <a:cxnLst/>
            <a:rect r="r" b="b" t="t" l="l"/>
            <a:pathLst>
              <a:path h="2329820" w="1880800">
                <a:moveTo>
                  <a:pt x="1880800" y="0"/>
                </a:moveTo>
                <a:lnTo>
                  <a:pt x="0" y="0"/>
                </a:lnTo>
                <a:lnTo>
                  <a:pt x="0" y="2329820"/>
                </a:lnTo>
                <a:lnTo>
                  <a:pt x="1880800" y="2329820"/>
                </a:lnTo>
                <a:lnTo>
                  <a:pt x="188080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447835">
            <a:off x="3924723" y="1308417"/>
            <a:ext cx="1264271" cy="1250479"/>
          </a:xfrm>
          <a:custGeom>
            <a:avLst/>
            <a:gdLst/>
            <a:ahLst/>
            <a:cxnLst/>
            <a:rect r="r" b="b" t="t" l="l"/>
            <a:pathLst>
              <a:path h="1250479" w="1264271">
                <a:moveTo>
                  <a:pt x="0" y="0"/>
                </a:moveTo>
                <a:lnTo>
                  <a:pt x="1264271" y="0"/>
                </a:lnTo>
                <a:lnTo>
                  <a:pt x="1264271" y="1250479"/>
                </a:lnTo>
                <a:lnTo>
                  <a:pt x="0" y="12504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6" id="16"/>
          <p:cNvSpPr txBox="true"/>
          <p:nvPr/>
        </p:nvSpPr>
        <p:spPr>
          <a:xfrm rot="0">
            <a:off x="10598688" y="8073527"/>
            <a:ext cx="15378623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900">
                <a:solidFill>
                  <a:srgbClr val="101010"/>
                </a:solidFill>
                <a:latin typeface="Ahkio"/>
                <a:ea typeface="Ahkio"/>
                <a:cs typeface="Ahkio"/>
                <a:sym typeface="Ahkio"/>
              </a:rPr>
              <a:t>-</a:t>
            </a:r>
            <a:r>
              <a:rPr lang="en-US" sz="4900" strike="noStrike" u="none">
                <a:solidFill>
                  <a:srgbClr val="101010"/>
                </a:solidFill>
                <a:latin typeface="Ahkio"/>
                <a:ea typeface="Ahkio"/>
                <a:cs typeface="Ahkio"/>
                <a:sym typeface="Ahkio"/>
              </a:rPr>
              <a:t>Supriya Gir</a:t>
            </a:r>
          </a:p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101010"/>
                </a:solidFill>
                <a:latin typeface="Ahkio"/>
                <a:ea typeface="Ahkio"/>
                <a:cs typeface="Ahkio"/>
                <a:sym typeface="Ahkio"/>
              </a:rPr>
              <a:t>Ironhack ML Project June 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762398" y="-142875"/>
            <a:ext cx="525602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94859" y="1028700"/>
            <a:ext cx="9364441" cy="8229600"/>
            <a:chOff x="0" y="0"/>
            <a:chExt cx="6871737" cy="60389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43" y="-22"/>
              <a:ext cx="6871841" cy="6038809"/>
            </a:xfrm>
            <a:custGeom>
              <a:avLst/>
              <a:gdLst/>
              <a:ahLst/>
              <a:cxnLst/>
              <a:rect r="r" b="b" t="t" l="l"/>
              <a:pathLst>
                <a:path h="6038809" w="6871841">
                  <a:moveTo>
                    <a:pt x="6867589" y="4835420"/>
                  </a:moveTo>
                  <a:cubicBezTo>
                    <a:pt x="6853873" y="5140728"/>
                    <a:pt x="6813995" y="5478421"/>
                    <a:pt x="6603937" y="5717689"/>
                  </a:cubicBezTo>
                  <a:cubicBezTo>
                    <a:pt x="6521260" y="5811923"/>
                    <a:pt x="6413945" y="5880630"/>
                    <a:pt x="6295708" y="5921016"/>
                  </a:cubicBezTo>
                  <a:cubicBezTo>
                    <a:pt x="6184583" y="5958989"/>
                    <a:pt x="6068631" y="5966990"/>
                    <a:pt x="5952299" y="5974356"/>
                  </a:cubicBezTo>
                  <a:cubicBezTo>
                    <a:pt x="5697918" y="5990485"/>
                    <a:pt x="5443284" y="6005471"/>
                    <a:pt x="5188648" y="6017409"/>
                  </a:cubicBezTo>
                  <a:cubicBezTo>
                    <a:pt x="4866056" y="6031252"/>
                    <a:pt x="4404309" y="6041920"/>
                    <a:pt x="3942167" y="6037983"/>
                  </a:cubicBezTo>
                  <a:cubicBezTo>
                    <a:pt x="3522992" y="6034427"/>
                    <a:pt x="3104015" y="6023124"/>
                    <a:pt x="2684840" y="6017663"/>
                  </a:cubicBezTo>
                  <a:cubicBezTo>
                    <a:pt x="2393179" y="6013853"/>
                    <a:pt x="2101518" y="6009916"/>
                    <a:pt x="1853100" y="6012329"/>
                  </a:cubicBezTo>
                  <a:cubicBezTo>
                    <a:pt x="1674157" y="6014615"/>
                    <a:pt x="1495087" y="6018679"/>
                    <a:pt x="1316144" y="6012710"/>
                  </a:cubicBezTo>
                  <a:cubicBezTo>
                    <a:pt x="1153203" y="6007249"/>
                    <a:pt x="984166" y="5997597"/>
                    <a:pt x="827702" y="5948067"/>
                  </a:cubicBezTo>
                  <a:cubicBezTo>
                    <a:pt x="667174" y="5897267"/>
                    <a:pt x="521759" y="5803795"/>
                    <a:pt x="409872" y="5677811"/>
                  </a:cubicBezTo>
                  <a:cubicBezTo>
                    <a:pt x="290111" y="5543064"/>
                    <a:pt x="203116" y="5373646"/>
                    <a:pt x="169588" y="5196227"/>
                  </a:cubicBezTo>
                  <a:cubicBezTo>
                    <a:pt x="149268" y="5088785"/>
                    <a:pt x="144950" y="4979184"/>
                    <a:pt x="143934" y="4870091"/>
                  </a:cubicBezTo>
                  <a:cubicBezTo>
                    <a:pt x="142791" y="4754902"/>
                    <a:pt x="142918" y="4639586"/>
                    <a:pt x="141775" y="4524397"/>
                  </a:cubicBezTo>
                  <a:cubicBezTo>
                    <a:pt x="137330" y="4049036"/>
                    <a:pt x="125138" y="3573802"/>
                    <a:pt x="105580" y="3098822"/>
                  </a:cubicBezTo>
                  <a:cubicBezTo>
                    <a:pt x="86022" y="2625874"/>
                    <a:pt x="58971" y="2153053"/>
                    <a:pt x="24427" y="1680994"/>
                  </a:cubicBezTo>
                  <a:cubicBezTo>
                    <a:pt x="-5926" y="1265196"/>
                    <a:pt x="-50122" y="810155"/>
                    <a:pt x="186987" y="441474"/>
                  </a:cubicBezTo>
                  <a:cubicBezTo>
                    <a:pt x="289349" y="282343"/>
                    <a:pt x="436796" y="164233"/>
                    <a:pt x="616374" y="103781"/>
                  </a:cubicBezTo>
                  <a:cubicBezTo>
                    <a:pt x="779950" y="48663"/>
                    <a:pt x="955337" y="40027"/>
                    <a:pt x="1127168" y="48917"/>
                  </a:cubicBezTo>
                  <a:cubicBezTo>
                    <a:pt x="1226101" y="42440"/>
                    <a:pt x="1324907" y="36598"/>
                    <a:pt x="1423967" y="31518"/>
                  </a:cubicBezTo>
                  <a:cubicBezTo>
                    <a:pt x="1847258" y="9801"/>
                    <a:pt x="2461491" y="530"/>
                    <a:pt x="3122231" y="22"/>
                  </a:cubicBezTo>
                  <a:cubicBezTo>
                    <a:pt x="3797624" y="-486"/>
                    <a:pt x="4473018" y="8023"/>
                    <a:pt x="5073587" y="19961"/>
                  </a:cubicBezTo>
                  <a:cubicBezTo>
                    <a:pt x="5302060" y="26311"/>
                    <a:pt x="5530406" y="33550"/>
                    <a:pt x="5758879" y="41297"/>
                  </a:cubicBezTo>
                  <a:cubicBezTo>
                    <a:pt x="5865178" y="44853"/>
                    <a:pt x="5972239" y="44853"/>
                    <a:pt x="6077776" y="59839"/>
                  </a:cubicBezTo>
                  <a:cubicBezTo>
                    <a:pt x="6169851" y="72920"/>
                    <a:pt x="6260148" y="96923"/>
                    <a:pt x="6345873" y="133118"/>
                  </a:cubicBezTo>
                  <a:cubicBezTo>
                    <a:pt x="6473762" y="187093"/>
                    <a:pt x="6616129" y="272564"/>
                    <a:pt x="6675946" y="403882"/>
                  </a:cubicBezTo>
                  <a:cubicBezTo>
                    <a:pt x="6725476" y="512721"/>
                    <a:pt x="6744399" y="634133"/>
                    <a:pt x="6759131" y="751862"/>
                  </a:cubicBezTo>
                  <a:cubicBezTo>
                    <a:pt x="6793548" y="1025801"/>
                    <a:pt x="6792278" y="1303550"/>
                    <a:pt x="6790627" y="1579267"/>
                  </a:cubicBezTo>
                  <a:cubicBezTo>
                    <a:pt x="6788595" y="1907816"/>
                    <a:pt x="6790119" y="2236365"/>
                    <a:pt x="6787833" y="2565041"/>
                  </a:cubicBezTo>
                  <a:cubicBezTo>
                    <a:pt x="6785293" y="2915180"/>
                    <a:pt x="6793040" y="3264684"/>
                    <a:pt x="6814884" y="3614188"/>
                  </a:cubicBezTo>
                  <a:cubicBezTo>
                    <a:pt x="6840156" y="4021350"/>
                    <a:pt x="6886004" y="4426861"/>
                    <a:pt x="6867589" y="48354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861937" y="5143500"/>
            <a:ext cx="9914253" cy="5593072"/>
          </a:xfrm>
          <a:custGeom>
            <a:avLst/>
            <a:gdLst/>
            <a:ahLst/>
            <a:cxnLst/>
            <a:rect r="r" b="b" t="t" l="l"/>
            <a:pathLst>
              <a:path h="5593072" w="9914253">
                <a:moveTo>
                  <a:pt x="0" y="0"/>
                </a:moveTo>
                <a:lnTo>
                  <a:pt x="9914253" y="0"/>
                </a:lnTo>
                <a:lnTo>
                  <a:pt x="9914253" y="5593072"/>
                </a:lnTo>
                <a:lnTo>
                  <a:pt x="0" y="55930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50225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15797">
            <a:off x="4894027" y="6244968"/>
            <a:ext cx="1283767" cy="2451638"/>
          </a:xfrm>
          <a:custGeom>
            <a:avLst/>
            <a:gdLst/>
            <a:ahLst/>
            <a:cxnLst/>
            <a:rect r="r" b="b" t="t" l="l"/>
            <a:pathLst>
              <a:path h="2451638" w="1283767">
                <a:moveTo>
                  <a:pt x="0" y="0"/>
                </a:moveTo>
                <a:lnTo>
                  <a:pt x="1283767" y="0"/>
                </a:lnTo>
                <a:lnTo>
                  <a:pt x="1283767" y="2451638"/>
                </a:lnTo>
                <a:lnTo>
                  <a:pt x="0" y="245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6493">
            <a:off x="15533590" y="512914"/>
            <a:ext cx="3117462" cy="2800048"/>
          </a:xfrm>
          <a:custGeom>
            <a:avLst/>
            <a:gdLst/>
            <a:ahLst/>
            <a:cxnLst/>
            <a:rect r="r" b="b" t="t" l="l"/>
            <a:pathLst>
              <a:path h="2800048" w="3117462">
                <a:moveTo>
                  <a:pt x="0" y="0"/>
                </a:moveTo>
                <a:lnTo>
                  <a:pt x="3117462" y="0"/>
                </a:lnTo>
                <a:lnTo>
                  <a:pt x="3117462" y="2800047"/>
                </a:lnTo>
                <a:lnTo>
                  <a:pt x="0" y="28000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401611"/>
            <a:ext cx="6310973" cy="231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800">
                <a:solidFill>
                  <a:srgbClr val="101010"/>
                </a:solidFill>
                <a:latin typeface="Ahkio"/>
                <a:ea typeface="Ahkio"/>
                <a:cs typeface="Ahkio"/>
                <a:sym typeface="Ahkio"/>
              </a:rPr>
              <a:t>HELLO, BOOKWORMS!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577376" y="2301908"/>
            <a:ext cx="8681924" cy="643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Imagine never running out of books you love.</a:t>
            </a:r>
          </a:p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In this presentation, we explore a recommendation system that learns the hidden connections between books, it’s description,  authors, and suggests your next favourite read.</a:t>
            </a:r>
          </a:p>
          <a:p>
            <a:pPr algn="l">
              <a:lnSpc>
                <a:spcPts val="4640"/>
              </a:lnSpc>
            </a:pPr>
          </a:p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Using machine learning, we turn thousands of books into meaningful patterns — helping readers discover stories they didn’t even know they were looking for.</a:t>
            </a:r>
          </a:p>
          <a:p>
            <a:pPr algn="l">
              <a:lnSpc>
                <a:spcPts val="46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762398" y="-142875"/>
            <a:ext cx="525602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0489" y="819150"/>
            <a:ext cx="12467023" cy="2010162"/>
            <a:chOff x="0" y="0"/>
            <a:chExt cx="3283496" cy="529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3496" cy="529425"/>
            </a:xfrm>
            <a:custGeom>
              <a:avLst/>
              <a:gdLst/>
              <a:ahLst/>
              <a:cxnLst/>
              <a:rect r="r" b="b" t="t" l="l"/>
              <a:pathLst>
                <a:path h="529425" w="3283496">
                  <a:moveTo>
                    <a:pt x="0" y="0"/>
                  </a:moveTo>
                  <a:lnTo>
                    <a:pt x="3283496" y="0"/>
                  </a:lnTo>
                  <a:lnTo>
                    <a:pt x="3283496" y="529425"/>
                  </a:lnTo>
                  <a:lnTo>
                    <a:pt x="0" y="529425"/>
                  </a:lnTo>
                  <a:close/>
                </a:path>
              </a:pathLst>
            </a:custGeom>
            <a:solidFill>
              <a:srgbClr val="3678C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33350"/>
              <a:ext cx="3283496" cy="39607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ctr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800">
                  <a:solidFill>
                    <a:srgbClr val="FFFFFF"/>
                  </a:solidFill>
                  <a:latin typeface="Ahkio"/>
                  <a:ea typeface="Ahkio"/>
                  <a:cs typeface="Ahkio"/>
                  <a:sym typeface="Ahkio"/>
                </a:rPr>
                <a:t>DATASET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699464"/>
            <a:ext cx="16230600" cy="6558836"/>
            <a:chOff x="0" y="0"/>
            <a:chExt cx="32633678" cy="131873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43" y="-22"/>
              <a:ext cx="32633782" cy="13187203"/>
            </a:xfrm>
            <a:custGeom>
              <a:avLst/>
              <a:gdLst/>
              <a:ahLst/>
              <a:cxnLst/>
              <a:rect r="r" b="b" t="t" l="l"/>
              <a:pathLst>
                <a:path h="13187203" w="32633782">
                  <a:moveTo>
                    <a:pt x="32629530" y="11983813"/>
                  </a:moveTo>
                  <a:cubicBezTo>
                    <a:pt x="32615813" y="12289121"/>
                    <a:pt x="32575937" y="12626814"/>
                    <a:pt x="32365878" y="12866082"/>
                  </a:cubicBezTo>
                  <a:cubicBezTo>
                    <a:pt x="32283201" y="12960316"/>
                    <a:pt x="32175887" y="13029024"/>
                    <a:pt x="32057649" y="13069409"/>
                  </a:cubicBezTo>
                  <a:cubicBezTo>
                    <a:pt x="31946524" y="13107382"/>
                    <a:pt x="31830575" y="13115383"/>
                    <a:pt x="31714241" y="13122750"/>
                  </a:cubicBezTo>
                  <a:cubicBezTo>
                    <a:pt x="31459859" y="13138879"/>
                    <a:pt x="31205227" y="13153864"/>
                    <a:pt x="30950591" y="13165803"/>
                  </a:cubicBezTo>
                  <a:cubicBezTo>
                    <a:pt x="29994113" y="13179645"/>
                    <a:pt x="25579942" y="13190313"/>
                    <a:pt x="21161990" y="13186377"/>
                  </a:cubicBezTo>
                  <a:cubicBezTo>
                    <a:pt x="17154787" y="13182820"/>
                    <a:pt x="13149476" y="13171517"/>
                    <a:pt x="9142272" y="13166056"/>
                  </a:cubicBezTo>
                  <a:cubicBezTo>
                    <a:pt x="6354074" y="13162246"/>
                    <a:pt x="3565879" y="13158309"/>
                    <a:pt x="1853100" y="13160723"/>
                  </a:cubicBezTo>
                  <a:cubicBezTo>
                    <a:pt x="1674157" y="13163008"/>
                    <a:pt x="1495087" y="13167073"/>
                    <a:pt x="1316144" y="13161104"/>
                  </a:cubicBezTo>
                  <a:cubicBezTo>
                    <a:pt x="1153203" y="13155642"/>
                    <a:pt x="984166" y="13145990"/>
                    <a:pt x="827702" y="13096460"/>
                  </a:cubicBezTo>
                  <a:cubicBezTo>
                    <a:pt x="667174" y="13045660"/>
                    <a:pt x="521759" y="12952188"/>
                    <a:pt x="409872" y="12826204"/>
                  </a:cubicBezTo>
                  <a:cubicBezTo>
                    <a:pt x="290111" y="12691457"/>
                    <a:pt x="203116" y="12522039"/>
                    <a:pt x="169588" y="12344620"/>
                  </a:cubicBezTo>
                  <a:cubicBezTo>
                    <a:pt x="149268" y="12237178"/>
                    <a:pt x="144950" y="12127577"/>
                    <a:pt x="143934" y="12018485"/>
                  </a:cubicBezTo>
                  <a:cubicBezTo>
                    <a:pt x="142791" y="11903295"/>
                    <a:pt x="142918" y="11787979"/>
                    <a:pt x="141775" y="11672790"/>
                  </a:cubicBezTo>
                  <a:cubicBezTo>
                    <a:pt x="137330" y="11197429"/>
                    <a:pt x="125138" y="9076716"/>
                    <a:pt x="105580" y="6920290"/>
                  </a:cubicBezTo>
                  <a:cubicBezTo>
                    <a:pt x="86022" y="4773089"/>
                    <a:pt x="58971" y="2626465"/>
                    <a:pt x="24427" y="1680994"/>
                  </a:cubicBezTo>
                  <a:cubicBezTo>
                    <a:pt x="-5926" y="1265196"/>
                    <a:pt x="-50122" y="810155"/>
                    <a:pt x="186987" y="441474"/>
                  </a:cubicBezTo>
                  <a:cubicBezTo>
                    <a:pt x="289349" y="282343"/>
                    <a:pt x="436796" y="164233"/>
                    <a:pt x="616374" y="103781"/>
                  </a:cubicBezTo>
                  <a:cubicBezTo>
                    <a:pt x="779950" y="48663"/>
                    <a:pt x="955337" y="40027"/>
                    <a:pt x="1127168" y="48917"/>
                  </a:cubicBezTo>
                  <a:cubicBezTo>
                    <a:pt x="1226101" y="42440"/>
                    <a:pt x="1324907" y="36598"/>
                    <a:pt x="1423967" y="31518"/>
                  </a:cubicBezTo>
                  <a:cubicBezTo>
                    <a:pt x="1847258" y="9801"/>
                    <a:pt x="7007119" y="530"/>
                    <a:pt x="13323622" y="22"/>
                  </a:cubicBezTo>
                  <a:cubicBezTo>
                    <a:pt x="19780198" y="-486"/>
                    <a:pt x="26236773" y="8023"/>
                    <a:pt x="30835528" y="19961"/>
                  </a:cubicBezTo>
                  <a:cubicBezTo>
                    <a:pt x="31064001" y="26311"/>
                    <a:pt x="31292347" y="33550"/>
                    <a:pt x="31520820" y="41297"/>
                  </a:cubicBezTo>
                  <a:cubicBezTo>
                    <a:pt x="31627120" y="44853"/>
                    <a:pt x="31734180" y="44853"/>
                    <a:pt x="31839718" y="59839"/>
                  </a:cubicBezTo>
                  <a:cubicBezTo>
                    <a:pt x="31931793" y="72920"/>
                    <a:pt x="32022088" y="96923"/>
                    <a:pt x="32107813" y="133118"/>
                  </a:cubicBezTo>
                  <a:cubicBezTo>
                    <a:pt x="32235703" y="187093"/>
                    <a:pt x="32378070" y="272564"/>
                    <a:pt x="32437886" y="403882"/>
                  </a:cubicBezTo>
                  <a:cubicBezTo>
                    <a:pt x="32487418" y="512721"/>
                    <a:pt x="32506341" y="634133"/>
                    <a:pt x="32521072" y="751862"/>
                  </a:cubicBezTo>
                  <a:cubicBezTo>
                    <a:pt x="32555488" y="1025801"/>
                    <a:pt x="32554220" y="1303550"/>
                    <a:pt x="32552568" y="1579267"/>
                  </a:cubicBezTo>
                  <a:cubicBezTo>
                    <a:pt x="32550537" y="1907816"/>
                    <a:pt x="32552059" y="3004705"/>
                    <a:pt x="32549774" y="4496906"/>
                  </a:cubicBezTo>
                  <a:cubicBezTo>
                    <a:pt x="32547235" y="6086549"/>
                    <a:pt x="32554980" y="7673309"/>
                    <a:pt x="32576827" y="9260071"/>
                  </a:cubicBezTo>
                  <a:cubicBezTo>
                    <a:pt x="32602100" y="11108601"/>
                    <a:pt x="32647945" y="11575254"/>
                    <a:pt x="32629530" y="119838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6498156" y="641324"/>
            <a:ext cx="2663212" cy="774753"/>
          </a:xfrm>
          <a:custGeom>
            <a:avLst/>
            <a:gdLst/>
            <a:ahLst/>
            <a:cxnLst/>
            <a:rect r="r" b="b" t="t" l="l"/>
            <a:pathLst>
              <a:path h="774753" w="2663212">
                <a:moveTo>
                  <a:pt x="2663213" y="0"/>
                </a:moveTo>
                <a:lnTo>
                  <a:pt x="0" y="0"/>
                </a:lnTo>
                <a:lnTo>
                  <a:pt x="0" y="774752"/>
                </a:lnTo>
                <a:lnTo>
                  <a:pt x="2663213" y="774752"/>
                </a:lnTo>
                <a:lnTo>
                  <a:pt x="26632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10489" y="2701533"/>
            <a:ext cx="10653422" cy="7627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Source </a:t>
            </a: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Goodreads and Openlibrary</a:t>
            </a:r>
          </a:p>
          <a:p>
            <a:pPr algn="l">
              <a:lnSpc>
                <a:spcPts val="1160"/>
              </a:lnSpc>
            </a:pPr>
          </a:p>
          <a:p>
            <a:pPr algn="l">
              <a:lnSpc>
                <a:spcPts val="1160"/>
              </a:lnSpc>
            </a:pPr>
          </a:p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Total Books:</a:t>
            </a: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5000 books from Goodreads ( 12 geners)</a:t>
            </a: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3500 books from Openlibrary (12 geners) </a:t>
            </a:r>
          </a:p>
          <a:p>
            <a:pPr algn="l">
              <a:lnSpc>
                <a:spcPts val="1160"/>
              </a:lnSpc>
            </a:pPr>
          </a:p>
          <a:p>
            <a:pPr algn="l">
              <a:lnSpc>
                <a:spcPts val="1160"/>
              </a:lnSpc>
            </a:pPr>
          </a:p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Important Variables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:</a:t>
            </a:r>
          </a:p>
          <a:p>
            <a:pPr algn="l" marL="1381764" indent="-460588" lvl="2">
              <a:lnSpc>
                <a:spcPts val="46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title</a:t>
            </a:r>
          </a:p>
          <a:p>
            <a:pPr algn="l" marL="1381764" indent="-460588" lvl="2">
              <a:lnSpc>
                <a:spcPts val="46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author</a:t>
            </a:r>
          </a:p>
          <a:p>
            <a:pPr algn="l" marL="1381764" indent="-460588" lvl="2">
              <a:lnSpc>
                <a:spcPts val="46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genres</a:t>
            </a:r>
          </a:p>
          <a:p>
            <a:pPr algn="l" marL="1381764" indent="-460588" lvl="2">
              <a:lnSpc>
                <a:spcPts val="4640"/>
              </a:lnSpc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description</a:t>
            </a:r>
          </a:p>
          <a:p>
            <a:pPr algn="l">
              <a:lnSpc>
                <a:spcPts val="4640"/>
              </a:lnSpc>
            </a:pPr>
          </a:p>
          <a:p>
            <a:pPr algn="l">
              <a:lnSpc>
                <a:spcPts val="464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506918" y="431774"/>
            <a:ext cx="2663212" cy="774753"/>
          </a:xfrm>
          <a:custGeom>
            <a:avLst/>
            <a:gdLst/>
            <a:ahLst/>
            <a:cxnLst/>
            <a:rect r="r" b="b" t="t" l="l"/>
            <a:pathLst>
              <a:path h="774753" w="2663212">
                <a:moveTo>
                  <a:pt x="0" y="0"/>
                </a:moveTo>
                <a:lnTo>
                  <a:pt x="2663212" y="0"/>
                </a:lnTo>
                <a:lnTo>
                  <a:pt x="2663212" y="774752"/>
                </a:lnTo>
                <a:lnTo>
                  <a:pt x="0" y="77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62398" y="-142875"/>
            <a:ext cx="525602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3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0489" y="819150"/>
            <a:ext cx="12467023" cy="2010162"/>
            <a:chOff x="0" y="0"/>
            <a:chExt cx="3283496" cy="529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83496" cy="529425"/>
            </a:xfrm>
            <a:custGeom>
              <a:avLst/>
              <a:gdLst/>
              <a:ahLst/>
              <a:cxnLst/>
              <a:rect r="r" b="b" t="t" l="l"/>
              <a:pathLst>
                <a:path h="529425" w="3283496">
                  <a:moveTo>
                    <a:pt x="0" y="0"/>
                  </a:moveTo>
                  <a:lnTo>
                    <a:pt x="3283496" y="0"/>
                  </a:lnTo>
                  <a:lnTo>
                    <a:pt x="3283496" y="529425"/>
                  </a:lnTo>
                  <a:lnTo>
                    <a:pt x="0" y="529425"/>
                  </a:lnTo>
                  <a:close/>
                </a:path>
              </a:pathLst>
            </a:custGeom>
            <a:solidFill>
              <a:srgbClr val="3678C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33350"/>
              <a:ext cx="3283496" cy="39607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ctr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800">
                  <a:solidFill>
                    <a:srgbClr val="FFFFFF"/>
                  </a:solidFill>
                  <a:latin typeface="Ahkio"/>
                  <a:ea typeface="Ahkio"/>
                  <a:cs typeface="Ahkio"/>
                  <a:sym typeface="Ahkio"/>
                </a:rPr>
                <a:t>SOLUTION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248518"/>
            <a:ext cx="16230600" cy="6558836"/>
            <a:chOff x="0" y="0"/>
            <a:chExt cx="32633678" cy="131873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43" y="-22"/>
              <a:ext cx="32633782" cy="13187203"/>
            </a:xfrm>
            <a:custGeom>
              <a:avLst/>
              <a:gdLst/>
              <a:ahLst/>
              <a:cxnLst/>
              <a:rect r="r" b="b" t="t" l="l"/>
              <a:pathLst>
                <a:path h="13187203" w="32633782">
                  <a:moveTo>
                    <a:pt x="32629530" y="11983813"/>
                  </a:moveTo>
                  <a:cubicBezTo>
                    <a:pt x="32615813" y="12289121"/>
                    <a:pt x="32575937" y="12626814"/>
                    <a:pt x="32365878" y="12866082"/>
                  </a:cubicBezTo>
                  <a:cubicBezTo>
                    <a:pt x="32283201" y="12960316"/>
                    <a:pt x="32175887" y="13029024"/>
                    <a:pt x="32057649" y="13069409"/>
                  </a:cubicBezTo>
                  <a:cubicBezTo>
                    <a:pt x="31946524" y="13107382"/>
                    <a:pt x="31830575" y="13115383"/>
                    <a:pt x="31714241" y="13122750"/>
                  </a:cubicBezTo>
                  <a:cubicBezTo>
                    <a:pt x="31459859" y="13138879"/>
                    <a:pt x="31205227" y="13153864"/>
                    <a:pt x="30950591" y="13165803"/>
                  </a:cubicBezTo>
                  <a:cubicBezTo>
                    <a:pt x="29994113" y="13179645"/>
                    <a:pt x="25579942" y="13190313"/>
                    <a:pt x="21161990" y="13186377"/>
                  </a:cubicBezTo>
                  <a:cubicBezTo>
                    <a:pt x="17154787" y="13182820"/>
                    <a:pt x="13149476" y="13171517"/>
                    <a:pt x="9142272" y="13166056"/>
                  </a:cubicBezTo>
                  <a:cubicBezTo>
                    <a:pt x="6354074" y="13162246"/>
                    <a:pt x="3565879" y="13158309"/>
                    <a:pt x="1853100" y="13160723"/>
                  </a:cubicBezTo>
                  <a:cubicBezTo>
                    <a:pt x="1674157" y="13163008"/>
                    <a:pt x="1495087" y="13167073"/>
                    <a:pt x="1316144" y="13161104"/>
                  </a:cubicBezTo>
                  <a:cubicBezTo>
                    <a:pt x="1153203" y="13155642"/>
                    <a:pt x="984166" y="13145990"/>
                    <a:pt x="827702" y="13096460"/>
                  </a:cubicBezTo>
                  <a:cubicBezTo>
                    <a:pt x="667174" y="13045660"/>
                    <a:pt x="521759" y="12952188"/>
                    <a:pt x="409872" y="12826204"/>
                  </a:cubicBezTo>
                  <a:cubicBezTo>
                    <a:pt x="290111" y="12691457"/>
                    <a:pt x="203116" y="12522039"/>
                    <a:pt x="169588" y="12344620"/>
                  </a:cubicBezTo>
                  <a:cubicBezTo>
                    <a:pt x="149268" y="12237178"/>
                    <a:pt x="144950" y="12127577"/>
                    <a:pt x="143934" y="12018485"/>
                  </a:cubicBezTo>
                  <a:cubicBezTo>
                    <a:pt x="142791" y="11903295"/>
                    <a:pt x="142918" y="11787979"/>
                    <a:pt x="141775" y="11672790"/>
                  </a:cubicBezTo>
                  <a:cubicBezTo>
                    <a:pt x="137330" y="11197429"/>
                    <a:pt x="125138" y="9076716"/>
                    <a:pt x="105580" y="6920290"/>
                  </a:cubicBezTo>
                  <a:cubicBezTo>
                    <a:pt x="86022" y="4773089"/>
                    <a:pt x="58971" y="2626465"/>
                    <a:pt x="24427" y="1680994"/>
                  </a:cubicBezTo>
                  <a:cubicBezTo>
                    <a:pt x="-5926" y="1265196"/>
                    <a:pt x="-50122" y="810155"/>
                    <a:pt x="186987" y="441474"/>
                  </a:cubicBezTo>
                  <a:cubicBezTo>
                    <a:pt x="289349" y="282343"/>
                    <a:pt x="436796" y="164233"/>
                    <a:pt x="616374" y="103781"/>
                  </a:cubicBezTo>
                  <a:cubicBezTo>
                    <a:pt x="779950" y="48663"/>
                    <a:pt x="955337" y="40027"/>
                    <a:pt x="1127168" y="48917"/>
                  </a:cubicBezTo>
                  <a:cubicBezTo>
                    <a:pt x="1226101" y="42440"/>
                    <a:pt x="1324907" y="36598"/>
                    <a:pt x="1423967" y="31518"/>
                  </a:cubicBezTo>
                  <a:cubicBezTo>
                    <a:pt x="1847258" y="9801"/>
                    <a:pt x="7007119" y="530"/>
                    <a:pt x="13323622" y="22"/>
                  </a:cubicBezTo>
                  <a:cubicBezTo>
                    <a:pt x="19780198" y="-486"/>
                    <a:pt x="26236773" y="8023"/>
                    <a:pt x="30835528" y="19961"/>
                  </a:cubicBezTo>
                  <a:cubicBezTo>
                    <a:pt x="31064001" y="26311"/>
                    <a:pt x="31292347" y="33550"/>
                    <a:pt x="31520820" y="41297"/>
                  </a:cubicBezTo>
                  <a:cubicBezTo>
                    <a:pt x="31627120" y="44853"/>
                    <a:pt x="31734180" y="44853"/>
                    <a:pt x="31839718" y="59839"/>
                  </a:cubicBezTo>
                  <a:cubicBezTo>
                    <a:pt x="31931793" y="72920"/>
                    <a:pt x="32022088" y="96923"/>
                    <a:pt x="32107813" y="133118"/>
                  </a:cubicBezTo>
                  <a:cubicBezTo>
                    <a:pt x="32235703" y="187093"/>
                    <a:pt x="32378070" y="272564"/>
                    <a:pt x="32437886" y="403882"/>
                  </a:cubicBezTo>
                  <a:cubicBezTo>
                    <a:pt x="32487418" y="512721"/>
                    <a:pt x="32506341" y="634133"/>
                    <a:pt x="32521072" y="751862"/>
                  </a:cubicBezTo>
                  <a:cubicBezTo>
                    <a:pt x="32555488" y="1025801"/>
                    <a:pt x="32554220" y="1303550"/>
                    <a:pt x="32552568" y="1579267"/>
                  </a:cubicBezTo>
                  <a:cubicBezTo>
                    <a:pt x="32550537" y="1907816"/>
                    <a:pt x="32552059" y="3004705"/>
                    <a:pt x="32549774" y="4496906"/>
                  </a:cubicBezTo>
                  <a:cubicBezTo>
                    <a:pt x="32547235" y="6086549"/>
                    <a:pt x="32554980" y="7673309"/>
                    <a:pt x="32576827" y="9260071"/>
                  </a:cubicBezTo>
                  <a:cubicBezTo>
                    <a:pt x="32602100" y="11108601"/>
                    <a:pt x="32647945" y="11575254"/>
                    <a:pt x="32629530" y="119838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true" flipV="false" rot="0">
            <a:off x="16498156" y="641324"/>
            <a:ext cx="2663212" cy="774753"/>
          </a:xfrm>
          <a:custGeom>
            <a:avLst/>
            <a:gdLst/>
            <a:ahLst/>
            <a:cxnLst/>
            <a:rect r="r" b="b" t="t" l="l"/>
            <a:pathLst>
              <a:path h="774753" w="2663212">
                <a:moveTo>
                  <a:pt x="2663213" y="0"/>
                </a:moveTo>
                <a:lnTo>
                  <a:pt x="0" y="0"/>
                </a:lnTo>
                <a:lnTo>
                  <a:pt x="0" y="774752"/>
                </a:lnTo>
                <a:lnTo>
                  <a:pt x="2663213" y="774752"/>
                </a:lnTo>
                <a:lnTo>
                  <a:pt x="26632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385089">
            <a:off x="15616145" y="1282680"/>
            <a:ext cx="2319698" cy="1931676"/>
          </a:xfrm>
          <a:custGeom>
            <a:avLst/>
            <a:gdLst/>
            <a:ahLst/>
            <a:cxnLst/>
            <a:rect r="r" b="b" t="t" l="l"/>
            <a:pathLst>
              <a:path h="1931676" w="2319698">
                <a:moveTo>
                  <a:pt x="0" y="0"/>
                </a:moveTo>
                <a:lnTo>
                  <a:pt x="2319698" y="0"/>
                </a:lnTo>
                <a:lnTo>
                  <a:pt x="2319698" y="1931676"/>
                </a:lnTo>
                <a:lnTo>
                  <a:pt x="0" y="19316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549451" y="2947430"/>
            <a:ext cx="10580228" cy="178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</a:t>
            </a:r>
            <a:r>
              <a:rPr lang="en-US" sz="3200" strike="noStrike" u="none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hybrid recommendation system using NLP embeddings + clustering</a:t>
            </a:r>
          </a:p>
          <a:p>
            <a:pPr algn="l">
              <a:lnSpc>
                <a:spcPts val="464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06918" y="431774"/>
            <a:ext cx="2663212" cy="774753"/>
          </a:xfrm>
          <a:custGeom>
            <a:avLst/>
            <a:gdLst/>
            <a:ahLst/>
            <a:cxnLst/>
            <a:rect r="r" b="b" t="t" l="l"/>
            <a:pathLst>
              <a:path h="774753" w="2663212">
                <a:moveTo>
                  <a:pt x="0" y="0"/>
                </a:moveTo>
                <a:lnTo>
                  <a:pt x="2663212" y="0"/>
                </a:lnTo>
                <a:lnTo>
                  <a:pt x="2663212" y="774752"/>
                </a:lnTo>
                <a:lnTo>
                  <a:pt x="0" y="77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61459" y="5520713"/>
            <a:ext cx="2350643" cy="235064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3678C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38100" y="-85725"/>
              <a:ext cx="7366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5"/>
                </a:lnSpc>
              </a:pPr>
              <a:r>
                <a:rPr lang="en-US" sz="2700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Book Title +</a:t>
              </a:r>
            </a:p>
            <a:p>
              <a:pPr algn="ctr">
                <a:lnSpc>
                  <a:spcPts val="3915"/>
                </a:lnSpc>
              </a:pPr>
              <a:r>
                <a:rPr lang="en-US" sz="2700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Description +</a:t>
              </a:r>
            </a:p>
            <a:p>
              <a:pPr algn="ctr" marL="0" indent="0" lvl="1">
                <a:lnSpc>
                  <a:spcPts val="3915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Author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78941" y="5520713"/>
            <a:ext cx="2350643" cy="235064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3678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38100" y="-85725"/>
              <a:ext cx="7366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915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Embeddings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58233" y="5527936"/>
            <a:ext cx="2350643" cy="235064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3678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38100" y="-85725"/>
              <a:ext cx="7366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915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Cluste</a:t>
              </a:r>
              <a:r>
                <a:rPr lang="en-US" sz="2700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ring 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334444" y="5527936"/>
            <a:ext cx="2350643" cy="2350643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733382"/>
                  </a:lnTo>
                  <a:cubicBezTo>
                    <a:pt x="43699" y="733382"/>
                    <a:pt x="79418" y="768721"/>
                    <a:pt x="79418" y="812800"/>
                  </a:cubicBezTo>
                  <a:lnTo>
                    <a:pt x="733382" y="812800"/>
                  </a:lnTo>
                  <a:cubicBezTo>
                    <a:pt x="733382" y="769101"/>
                    <a:pt x="768721" y="733382"/>
                    <a:pt x="812800" y="733382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3678C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38100" y="-85725"/>
              <a:ext cx="736600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915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Similarity ranking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310654" y="5535299"/>
            <a:ext cx="3465340" cy="2283562"/>
            <a:chOff x="0" y="0"/>
            <a:chExt cx="812800" cy="53561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535613"/>
            </a:xfrm>
            <a:custGeom>
              <a:avLst/>
              <a:gdLst/>
              <a:ahLst/>
              <a:cxnLst/>
              <a:rect r="r" b="b" t="t" l="l"/>
              <a:pathLst>
                <a:path h="535613" w="812800">
                  <a:moveTo>
                    <a:pt x="733382" y="0"/>
                  </a:moveTo>
                  <a:lnTo>
                    <a:pt x="79418" y="0"/>
                  </a:lnTo>
                  <a:cubicBezTo>
                    <a:pt x="79418" y="43699"/>
                    <a:pt x="44079" y="79418"/>
                    <a:pt x="0" y="79418"/>
                  </a:cubicBezTo>
                  <a:lnTo>
                    <a:pt x="0" y="456194"/>
                  </a:lnTo>
                  <a:cubicBezTo>
                    <a:pt x="43699" y="456194"/>
                    <a:pt x="79418" y="491533"/>
                    <a:pt x="79418" y="535613"/>
                  </a:cubicBezTo>
                  <a:lnTo>
                    <a:pt x="733382" y="535613"/>
                  </a:lnTo>
                  <a:cubicBezTo>
                    <a:pt x="733382" y="491913"/>
                    <a:pt x="768721" y="456194"/>
                    <a:pt x="812800" y="456194"/>
                  </a:cubicBezTo>
                  <a:lnTo>
                    <a:pt x="812800" y="79418"/>
                  </a:lnTo>
                  <a:cubicBezTo>
                    <a:pt x="769101" y="79418"/>
                    <a:pt x="733382" y="44079"/>
                    <a:pt x="733382" y="0"/>
                  </a:cubicBezTo>
                  <a:close/>
                </a:path>
              </a:pathLst>
            </a:custGeom>
            <a:solidFill>
              <a:srgbClr val="3678C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38100" y="-85725"/>
              <a:ext cx="736600" cy="5832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915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Recommenda</a:t>
              </a:r>
              <a:r>
                <a:rPr lang="en-US" sz="2700">
                  <a:solidFill>
                    <a:srgbClr val="FFFFFF"/>
                  </a:solidFill>
                  <a:latin typeface="Futura"/>
                  <a:ea typeface="Futura"/>
                  <a:cs typeface="Futura"/>
                  <a:sym typeface="Futura"/>
                </a:rPr>
                <a:t>tions</a:t>
              </a:r>
            </a:p>
          </p:txBody>
        </p:sp>
      </p:grpSp>
      <p:sp>
        <p:nvSpPr>
          <p:cNvPr name="AutoShape 26" id="26"/>
          <p:cNvSpPr/>
          <p:nvPr/>
        </p:nvSpPr>
        <p:spPr>
          <a:xfrm>
            <a:off x="3903639" y="6684469"/>
            <a:ext cx="632118" cy="636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7" id="27"/>
          <p:cNvSpPr/>
          <p:nvPr/>
        </p:nvSpPr>
        <p:spPr>
          <a:xfrm flipV="true">
            <a:off x="6729583" y="6677080"/>
            <a:ext cx="626740" cy="1273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8" id="28"/>
          <p:cNvSpPr/>
          <p:nvPr/>
        </p:nvSpPr>
        <p:spPr>
          <a:xfrm>
            <a:off x="9661374" y="6662494"/>
            <a:ext cx="673070" cy="4076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9" id="29"/>
          <p:cNvSpPr/>
          <p:nvPr/>
        </p:nvSpPr>
        <p:spPr>
          <a:xfrm flipV="true">
            <a:off x="12685087" y="6677080"/>
            <a:ext cx="625568" cy="2617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0" id="30"/>
          <p:cNvSpPr txBox="true"/>
          <p:nvPr/>
        </p:nvSpPr>
        <p:spPr>
          <a:xfrm rot="0">
            <a:off x="17762398" y="-142875"/>
            <a:ext cx="525602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7879" y="832677"/>
            <a:ext cx="12832242" cy="2010162"/>
            <a:chOff x="0" y="0"/>
            <a:chExt cx="3379685" cy="5294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79685" cy="529425"/>
            </a:xfrm>
            <a:custGeom>
              <a:avLst/>
              <a:gdLst/>
              <a:ahLst/>
              <a:cxnLst/>
              <a:rect r="r" b="b" t="t" l="l"/>
              <a:pathLst>
                <a:path h="529425" w="3379685">
                  <a:moveTo>
                    <a:pt x="0" y="0"/>
                  </a:moveTo>
                  <a:lnTo>
                    <a:pt x="3379685" y="0"/>
                  </a:lnTo>
                  <a:lnTo>
                    <a:pt x="3379685" y="529425"/>
                  </a:lnTo>
                  <a:lnTo>
                    <a:pt x="0" y="529425"/>
                  </a:lnTo>
                  <a:close/>
                </a:path>
              </a:pathLst>
            </a:custGeom>
            <a:solidFill>
              <a:srgbClr val="3678C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33350"/>
              <a:ext cx="3379685" cy="39607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ctr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800">
                  <a:solidFill>
                    <a:srgbClr val="FFFFFF"/>
                  </a:solidFill>
                  <a:latin typeface="Ahkio"/>
                  <a:ea typeface="Ahkio"/>
                  <a:cs typeface="Ahkio"/>
                  <a:sym typeface="Ahkio"/>
                </a:rPr>
                <a:t>DATA PROCESSING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699464"/>
            <a:ext cx="16230600" cy="6558836"/>
            <a:chOff x="0" y="0"/>
            <a:chExt cx="32633678" cy="131873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43" y="-22"/>
              <a:ext cx="32633782" cy="13187203"/>
            </a:xfrm>
            <a:custGeom>
              <a:avLst/>
              <a:gdLst/>
              <a:ahLst/>
              <a:cxnLst/>
              <a:rect r="r" b="b" t="t" l="l"/>
              <a:pathLst>
                <a:path h="13187203" w="32633782">
                  <a:moveTo>
                    <a:pt x="32629530" y="11983813"/>
                  </a:moveTo>
                  <a:cubicBezTo>
                    <a:pt x="32615813" y="12289121"/>
                    <a:pt x="32575937" y="12626814"/>
                    <a:pt x="32365878" y="12866082"/>
                  </a:cubicBezTo>
                  <a:cubicBezTo>
                    <a:pt x="32283201" y="12960316"/>
                    <a:pt x="32175887" y="13029024"/>
                    <a:pt x="32057649" y="13069409"/>
                  </a:cubicBezTo>
                  <a:cubicBezTo>
                    <a:pt x="31946524" y="13107382"/>
                    <a:pt x="31830575" y="13115383"/>
                    <a:pt x="31714241" y="13122750"/>
                  </a:cubicBezTo>
                  <a:cubicBezTo>
                    <a:pt x="31459859" y="13138879"/>
                    <a:pt x="31205227" y="13153864"/>
                    <a:pt x="30950591" y="13165803"/>
                  </a:cubicBezTo>
                  <a:cubicBezTo>
                    <a:pt x="29994113" y="13179645"/>
                    <a:pt x="25579942" y="13190313"/>
                    <a:pt x="21161990" y="13186377"/>
                  </a:cubicBezTo>
                  <a:cubicBezTo>
                    <a:pt x="17154787" y="13182820"/>
                    <a:pt x="13149476" y="13171517"/>
                    <a:pt x="9142272" y="13166056"/>
                  </a:cubicBezTo>
                  <a:cubicBezTo>
                    <a:pt x="6354074" y="13162246"/>
                    <a:pt x="3565879" y="13158309"/>
                    <a:pt x="1853100" y="13160723"/>
                  </a:cubicBezTo>
                  <a:cubicBezTo>
                    <a:pt x="1674157" y="13163008"/>
                    <a:pt x="1495087" y="13167073"/>
                    <a:pt x="1316144" y="13161104"/>
                  </a:cubicBezTo>
                  <a:cubicBezTo>
                    <a:pt x="1153203" y="13155642"/>
                    <a:pt x="984166" y="13145990"/>
                    <a:pt x="827702" y="13096460"/>
                  </a:cubicBezTo>
                  <a:cubicBezTo>
                    <a:pt x="667174" y="13045660"/>
                    <a:pt x="521759" y="12952188"/>
                    <a:pt x="409872" y="12826204"/>
                  </a:cubicBezTo>
                  <a:cubicBezTo>
                    <a:pt x="290111" y="12691457"/>
                    <a:pt x="203116" y="12522039"/>
                    <a:pt x="169588" y="12344620"/>
                  </a:cubicBezTo>
                  <a:cubicBezTo>
                    <a:pt x="149268" y="12237178"/>
                    <a:pt x="144950" y="12127577"/>
                    <a:pt x="143934" y="12018485"/>
                  </a:cubicBezTo>
                  <a:cubicBezTo>
                    <a:pt x="142791" y="11903295"/>
                    <a:pt x="142918" y="11787979"/>
                    <a:pt x="141775" y="11672790"/>
                  </a:cubicBezTo>
                  <a:cubicBezTo>
                    <a:pt x="137330" y="11197429"/>
                    <a:pt x="125138" y="9076716"/>
                    <a:pt x="105580" y="6920290"/>
                  </a:cubicBezTo>
                  <a:cubicBezTo>
                    <a:pt x="86022" y="4773089"/>
                    <a:pt x="58971" y="2626465"/>
                    <a:pt x="24427" y="1680994"/>
                  </a:cubicBezTo>
                  <a:cubicBezTo>
                    <a:pt x="-5926" y="1265196"/>
                    <a:pt x="-50122" y="810155"/>
                    <a:pt x="186987" y="441474"/>
                  </a:cubicBezTo>
                  <a:cubicBezTo>
                    <a:pt x="289349" y="282343"/>
                    <a:pt x="436796" y="164233"/>
                    <a:pt x="616374" y="103781"/>
                  </a:cubicBezTo>
                  <a:cubicBezTo>
                    <a:pt x="779950" y="48663"/>
                    <a:pt x="955337" y="40027"/>
                    <a:pt x="1127168" y="48917"/>
                  </a:cubicBezTo>
                  <a:cubicBezTo>
                    <a:pt x="1226101" y="42440"/>
                    <a:pt x="1324907" y="36598"/>
                    <a:pt x="1423967" y="31518"/>
                  </a:cubicBezTo>
                  <a:cubicBezTo>
                    <a:pt x="1847258" y="9801"/>
                    <a:pt x="7007119" y="530"/>
                    <a:pt x="13323622" y="22"/>
                  </a:cubicBezTo>
                  <a:cubicBezTo>
                    <a:pt x="19780198" y="-486"/>
                    <a:pt x="26236773" y="8023"/>
                    <a:pt x="30835528" y="19961"/>
                  </a:cubicBezTo>
                  <a:cubicBezTo>
                    <a:pt x="31064001" y="26311"/>
                    <a:pt x="31292347" y="33550"/>
                    <a:pt x="31520820" y="41297"/>
                  </a:cubicBezTo>
                  <a:cubicBezTo>
                    <a:pt x="31627120" y="44853"/>
                    <a:pt x="31734180" y="44853"/>
                    <a:pt x="31839718" y="59839"/>
                  </a:cubicBezTo>
                  <a:cubicBezTo>
                    <a:pt x="31931793" y="72920"/>
                    <a:pt x="32022088" y="96923"/>
                    <a:pt x="32107813" y="133118"/>
                  </a:cubicBezTo>
                  <a:cubicBezTo>
                    <a:pt x="32235703" y="187093"/>
                    <a:pt x="32378070" y="272564"/>
                    <a:pt x="32437886" y="403882"/>
                  </a:cubicBezTo>
                  <a:cubicBezTo>
                    <a:pt x="32487418" y="512721"/>
                    <a:pt x="32506341" y="634133"/>
                    <a:pt x="32521072" y="751862"/>
                  </a:cubicBezTo>
                  <a:cubicBezTo>
                    <a:pt x="32555488" y="1025801"/>
                    <a:pt x="32554220" y="1303550"/>
                    <a:pt x="32552568" y="1579267"/>
                  </a:cubicBezTo>
                  <a:cubicBezTo>
                    <a:pt x="32550537" y="1907816"/>
                    <a:pt x="32552059" y="3004705"/>
                    <a:pt x="32549774" y="4496906"/>
                  </a:cubicBezTo>
                  <a:cubicBezTo>
                    <a:pt x="32547235" y="6086549"/>
                    <a:pt x="32554980" y="7673309"/>
                    <a:pt x="32576827" y="9260071"/>
                  </a:cubicBezTo>
                  <a:cubicBezTo>
                    <a:pt x="32602100" y="11108601"/>
                    <a:pt x="32647945" y="11575254"/>
                    <a:pt x="32629530" y="119838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295275" y="7800023"/>
            <a:ext cx="2468318" cy="2726054"/>
          </a:xfrm>
          <a:custGeom>
            <a:avLst/>
            <a:gdLst/>
            <a:ahLst/>
            <a:cxnLst/>
            <a:rect r="r" b="b" t="t" l="l"/>
            <a:pathLst>
              <a:path h="2726054" w="2468318">
                <a:moveTo>
                  <a:pt x="0" y="0"/>
                </a:moveTo>
                <a:lnTo>
                  <a:pt x="2468318" y="0"/>
                </a:lnTo>
                <a:lnTo>
                  <a:pt x="2468318" y="2726054"/>
                </a:lnTo>
                <a:lnTo>
                  <a:pt x="0" y="2726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41288">
            <a:off x="16098522" y="452628"/>
            <a:ext cx="2793919" cy="3142445"/>
          </a:xfrm>
          <a:custGeom>
            <a:avLst/>
            <a:gdLst/>
            <a:ahLst/>
            <a:cxnLst/>
            <a:rect r="r" b="b" t="t" l="l"/>
            <a:pathLst>
              <a:path h="3142445" w="2793919">
                <a:moveTo>
                  <a:pt x="0" y="0"/>
                </a:moveTo>
                <a:lnTo>
                  <a:pt x="2793919" y="0"/>
                </a:lnTo>
                <a:lnTo>
                  <a:pt x="2793919" y="3142445"/>
                </a:lnTo>
                <a:lnTo>
                  <a:pt x="0" y="314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27879" y="2943206"/>
            <a:ext cx="12486453" cy="573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Data</a:t>
            </a:r>
            <a:r>
              <a:rPr lang="en-US" b="true" sz="3200" strike="noStrike" u="non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 Cleaning:</a:t>
            </a:r>
            <a:r>
              <a:rPr lang="en-US" sz="3200" strike="noStrike" u="none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Removed duplicates and handled missing values to ensure a high-quality dataset.</a:t>
            </a:r>
          </a:p>
          <a:p>
            <a:pPr algn="l">
              <a:lnSpc>
                <a:spcPts val="1160"/>
              </a:lnSpc>
            </a:pP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b="true" sz="3200" strike="noStrike" u="non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Normalization: </a:t>
            </a:r>
            <a:r>
              <a:rPr lang="en-US" sz="3200" strike="noStrike" u="none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Applied regex to clean titles and standardized text through case folding.</a:t>
            </a:r>
          </a:p>
          <a:p>
            <a:pPr algn="l">
              <a:lnSpc>
                <a:spcPts val="1160"/>
              </a:lnSpc>
            </a:pP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b="true" sz="3200" strike="noStrike" u="non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Embedding Generation:</a:t>
            </a:r>
            <a:r>
              <a:rPr lang="en-US" sz="3200" strike="noStrike" u="none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Used all-MiniLM-L6-v2 to transform text into 384-dimensional dense vectors.</a:t>
            </a:r>
          </a:p>
          <a:p>
            <a:pPr algn="l">
              <a:lnSpc>
                <a:spcPts val="1160"/>
              </a:lnSpc>
            </a:pP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b="true" sz="3200" strike="noStrike" u="none">
                <a:solidFill>
                  <a:srgbClr val="000000"/>
                </a:solidFill>
                <a:latin typeface="Futura Bold"/>
                <a:ea typeface="Futura Bold"/>
                <a:cs typeface="Futura Bold"/>
                <a:sym typeface="Futura Bold"/>
              </a:rPr>
              <a:t>Semantic Intelligence/Cosine similarity :</a:t>
            </a:r>
            <a:r>
              <a:rPr lang="en-US" sz="3200" strike="noStrike" u="none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 These embeddings allow the system to recommend books based on semantic meaning rather than simple keyword matching.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62398" y="-142875"/>
            <a:ext cx="525602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5275" y="7800023"/>
            <a:ext cx="2468318" cy="2726054"/>
          </a:xfrm>
          <a:custGeom>
            <a:avLst/>
            <a:gdLst/>
            <a:ahLst/>
            <a:cxnLst/>
            <a:rect r="r" b="b" t="t" l="l"/>
            <a:pathLst>
              <a:path h="2726054" w="2468318">
                <a:moveTo>
                  <a:pt x="0" y="0"/>
                </a:moveTo>
                <a:lnTo>
                  <a:pt x="2468318" y="0"/>
                </a:lnTo>
                <a:lnTo>
                  <a:pt x="2468318" y="2726054"/>
                </a:lnTo>
                <a:lnTo>
                  <a:pt x="0" y="2726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699464"/>
            <a:ext cx="16230600" cy="6558836"/>
            <a:chOff x="0" y="0"/>
            <a:chExt cx="32633678" cy="131873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43" y="-22"/>
              <a:ext cx="32633782" cy="13187203"/>
            </a:xfrm>
            <a:custGeom>
              <a:avLst/>
              <a:gdLst/>
              <a:ahLst/>
              <a:cxnLst/>
              <a:rect r="r" b="b" t="t" l="l"/>
              <a:pathLst>
                <a:path h="13187203" w="32633782">
                  <a:moveTo>
                    <a:pt x="32629530" y="11983813"/>
                  </a:moveTo>
                  <a:cubicBezTo>
                    <a:pt x="32615813" y="12289121"/>
                    <a:pt x="32575937" y="12626814"/>
                    <a:pt x="32365878" y="12866082"/>
                  </a:cubicBezTo>
                  <a:cubicBezTo>
                    <a:pt x="32283201" y="12960316"/>
                    <a:pt x="32175887" y="13029024"/>
                    <a:pt x="32057649" y="13069409"/>
                  </a:cubicBezTo>
                  <a:cubicBezTo>
                    <a:pt x="31946524" y="13107382"/>
                    <a:pt x="31830575" y="13115383"/>
                    <a:pt x="31714241" y="13122750"/>
                  </a:cubicBezTo>
                  <a:cubicBezTo>
                    <a:pt x="31459859" y="13138879"/>
                    <a:pt x="31205227" y="13153864"/>
                    <a:pt x="30950591" y="13165803"/>
                  </a:cubicBezTo>
                  <a:cubicBezTo>
                    <a:pt x="29994113" y="13179645"/>
                    <a:pt x="25579942" y="13190313"/>
                    <a:pt x="21161990" y="13186377"/>
                  </a:cubicBezTo>
                  <a:cubicBezTo>
                    <a:pt x="17154787" y="13182820"/>
                    <a:pt x="13149476" y="13171517"/>
                    <a:pt x="9142272" y="13166056"/>
                  </a:cubicBezTo>
                  <a:cubicBezTo>
                    <a:pt x="6354074" y="13162246"/>
                    <a:pt x="3565879" y="13158309"/>
                    <a:pt x="1853100" y="13160723"/>
                  </a:cubicBezTo>
                  <a:cubicBezTo>
                    <a:pt x="1674157" y="13163008"/>
                    <a:pt x="1495087" y="13167073"/>
                    <a:pt x="1316144" y="13161104"/>
                  </a:cubicBezTo>
                  <a:cubicBezTo>
                    <a:pt x="1153203" y="13155642"/>
                    <a:pt x="984166" y="13145990"/>
                    <a:pt x="827702" y="13096460"/>
                  </a:cubicBezTo>
                  <a:cubicBezTo>
                    <a:pt x="667174" y="13045660"/>
                    <a:pt x="521759" y="12952188"/>
                    <a:pt x="409872" y="12826204"/>
                  </a:cubicBezTo>
                  <a:cubicBezTo>
                    <a:pt x="290111" y="12691457"/>
                    <a:pt x="203116" y="12522039"/>
                    <a:pt x="169588" y="12344620"/>
                  </a:cubicBezTo>
                  <a:cubicBezTo>
                    <a:pt x="149268" y="12237178"/>
                    <a:pt x="144950" y="12127577"/>
                    <a:pt x="143934" y="12018485"/>
                  </a:cubicBezTo>
                  <a:cubicBezTo>
                    <a:pt x="142791" y="11903295"/>
                    <a:pt x="142918" y="11787979"/>
                    <a:pt x="141775" y="11672790"/>
                  </a:cubicBezTo>
                  <a:cubicBezTo>
                    <a:pt x="137330" y="11197429"/>
                    <a:pt x="125138" y="9076716"/>
                    <a:pt x="105580" y="6920290"/>
                  </a:cubicBezTo>
                  <a:cubicBezTo>
                    <a:pt x="86022" y="4773089"/>
                    <a:pt x="58971" y="2626465"/>
                    <a:pt x="24427" y="1680994"/>
                  </a:cubicBezTo>
                  <a:cubicBezTo>
                    <a:pt x="-5926" y="1265196"/>
                    <a:pt x="-50122" y="810155"/>
                    <a:pt x="186987" y="441474"/>
                  </a:cubicBezTo>
                  <a:cubicBezTo>
                    <a:pt x="289349" y="282343"/>
                    <a:pt x="436796" y="164233"/>
                    <a:pt x="616374" y="103781"/>
                  </a:cubicBezTo>
                  <a:cubicBezTo>
                    <a:pt x="779950" y="48663"/>
                    <a:pt x="955337" y="40027"/>
                    <a:pt x="1127168" y="48917"/>
                  </a:cubicBezTo>
                  <a:cubicBezTo>
                    <a:pt x="1226101" y="42440"/>
                    <a:pt x="1324907" y="36598"/>
                    <a:pt x="1423967" y="31518"/>
                  </a:cubicBezTo>
                  <a:cubicBezTo>
                    <a:pt x="1847258" y="9801"/>
                    <a:pt x="7007119" y="530"/>
                    <a:pt x="13323622" y="22"/>
                  </a:cubicBezTo>
                  <a:cubicBezTo>
                    <a:pt x="19780198" y="-486"/>
                    <a:pt x="26236773" y="8023"/>
                    <a:pt x="30835528" y="19961"/>
                  </a:cubicBezTo>
                  <a:cubicBezTo>
                    <a:pt x="31064001" y="26311"/>
                    <a:pt x="31292347" y="33550"/>
                    <a:pt x="31520820" y="41297"/>
                  </a:cubicBezTo>
                  <a:cubicBezTo>
                    <a:pt x="31627120" y="44853"/>
                    <a:pt x="31734180" y="44853"/>
                    <a:pt x="31839718" y="59839"/>
                  </a:cubicBezTo>
                  <a:cubicBezTo>
                    <a:pt x="31931793" y="72920"/>
                    <a:pt x="32022088" y="96923"/>
                    <a:pt x="32107813" y="133118"/>
                  </a:cubicBezTo>
                  <a:cubicBezTo>
                    <a:pt x="32235703" y="187093"/>
                    <a:pt x="32378070" y="272564"/>
                    <a:pt x="32437886" y="403882"/>
                  </a:cubicBezTo>
                  <a:cubicBezTo>
                    <a:pt x="32487418" y="512721"/>
                    <a:pt x="32506341" y="634133"/>
                    <a:pt x="32521072" y="751862"/>
                  </a:cubicBezTo>
                  <a:cubicBezTo>
                    <a:pt x="32555488" y="1025801"/>
                    <a:pt x="32554220" y="1303550"/>
                    <a:pt x="32552568" y="1579267"/>
                  </a:cubicBezTo>
                  <a:cubicBezTo>
                    <a:pt x="32550537" y="1907816"/>
                    <a:pt x="32552059" y="3004705"/>
                    <a:pt x="32549774" y="4496906"/>
                  </a:cubicBezTo>
                  <a:cubicBezTo>
                    <a:pt x="32547235" y="6086549"/>
                    <a:pt x="32554980" y="7673309"/>
                    <a:pt x="32576827" y="9260071"/>
                  </a:cubicBezTo>
                  <a:cubicBezTo>
                    <a:pt x="32602100" y="11108601"/>
                    <a:pt x="32647945" y="11575254"/>
                    <a:pt x="32629530" y="119838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727879" y="832677"/>
            <a:ext cx="12832242" cy="2010162"/>
            <a:chOff x="0" y="0"/>
            <a:chExt cx="3379685" cy="5294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79685" cy="529425"/>
            </a:xfrm>
            <a:custGeom>
              <a:avLst/>
              <a:gdLst/>
              <a:ahLst/>
              <a:cxnLst/>
              <a:rect r="r" b="b" t="t" l="l"/>
              <a:pathLst>
                <a:path h="529425" w="3379685">
                  <a:moveTo>
                    <a:pt x="0" y="0"/>
                  </a:moveTo>
                  <a:lnTo>
                    <a:pt x="3379685" y="0"/>
                  </a:lnTo>
                  <a:lnTo>
                    <a:pt x="3379685" y="529425"/>
                  </a:lnTo>
                  <a:lnTo>
                    <a:pt x="0" y="529425"/>
                  </a:lnTo>
                  <a:close/>
                </a:path>
              </a:pathLst>
            </a:custGeom>
            <a:solidFill>
              <a:srgbClr val="3678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133350"/>
              <a:ext cx="3379685" cy="396075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ctr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800">
                  <a:solidFill>
                    <a:srgbClr val="FFFFFF"/>
                  </a:solidFill>
                  <a:latin typeface="Ahkio"/>
                  <a:ea typeface="Ahkio"/>
                  <a:cs typeface="Ahkio"/>
                  <a:sym typeface="Ahkio"/>
                </a:rPr>
                <a:t>RECOMMENDATION ENGINE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727879" y="2980901"/>
            <a:ext cx="10653422" cy="678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Book recommendation by favorite Book:</a:t>
            </a: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book cluster using HDBSCAN</a:t>
            </a: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compute cosine similarity</a:t>
            </a: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return top-N similar books</a:t>
            </a:r>
          </a:p>
          <a:p>
            <a:pPr algn="l">
              <a:lnSpc>
                <a:spcPts val="1449"/>
              </a:lnSpc>
            </a:pPr>
          </a:p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Book Recommendations by favorite 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Author:</a:t>
            </a: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average embeddings per author</a:t>
            </a: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TfidfVectorizer(Which words appear here a lot)</a:t>
            </a: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all-MiniLM-L6-v2(understands the meaning/semantics)</a:t>
            </a: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cosine similarity between authors</a:t>
            </a:r>
          </a:p>
          <a:p>
            <a:pPr algn="l">
              <a:lnSpc>
                <a:spcPts val="1160"/>
              </a:lnSpc>
            </a:pPr>
          </a:p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Book Recommendations by Mood(Extra)</a:t>
            </a:r>
          </a:p>
          <a:p>
            <a:pPr algn="l">
              <a:lnSpc>
                <a:spcPts val="464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762398" y="-142875"/>
            <a:ext cx="525602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5275" y="7800023"/>
            <a:ext cx="2468318" cy="2726054"/>
          </a:xfrm>
          <a:custGeom>
            <a:avLst/>
            <a:gdLst/>
            <a:ahLst/>
            <a:cxnLst/>
            <a:rect r="r" b="b" t="t" l="l"/>
            <a:pathLst>
              <a:path h="2726054" w="2468318">
                <a:moveTo>
                  <a:pt x="0" y="0"/>
                </a:moveTo>
                <a:lnTo>
                  <a:pt x="2468318" y="0"/>
                </a:lnTo>
                <a:lnTo>
                  <a:pt x="2468318" y="2726054"/>
                </a:lnTo>
                <a:lnTo>
                  <a:pt x="0" y="2726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41288">
            <a:off x="16098522" y="452628"/>
            <a:ext cx="2793919" cy="3142445"/>
          </a:xfrm>
          <a:custGeom>
            <a:avLst/>
            <a:gdLst/>
            <a:ahLst/>
            <a:cxnLst/>
            <a:rect r="r" b="b" t="t" l="l"/>
            <a:pathLst>
              <a:path h="3142445" w="2793919">
                <a:moveTo>
                  <a:pt x="0" y="0"/>
                </a:moveTo>
                <a:lnTo>
                  <a:pt x="2793919" y="0"/>
                </a:lnTo>
                <a:lnTo>
                  <a:pt x="2793919" y="3142445"/>
                </a:lnTo>
                <a:lnTo>
                  <a:pt x="0" y="31424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699464"/>
            <a:ext cx="16230600" cy="6558836"/>
            <a:chOff x="0" y="0"/>
            <a:chExt cx="32633678" cy="131873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43" y="-22"/>
              <a:ext cx="32633782" cy="13187203"/>
            </a:xfrm>
            <a:custGeom>
              <a:avLst/>
              <a:gdLst/>
              <a:ahLst/>
              <a:cxnLst/>
              <a:rect r="r" b="b" t="t" l="l"/>
              <a:pathLst>
                <a:path h="13187203" w="32633782">
                  <a:moveTo>
                    <a:pt x="32629530" y="11983813"/>
                  </a:moveTo>
                  <a:cubicBezTo>
                    <a:pt x="32615813" y="12289121"/>
                    <a:pt x="32575937" y="12626814"/>
                    <a:pt x="32365878" y="12866082"/>
                  </a:cubicBezTo>
                  <a:cubicBezTo>
                    <a:pt x="32283201" y="12960316"/>
                    <a:pt x="32175887" y="13029024"/>
                    <a:pt x="32057649" y="13069409"/>
                  </a:cubicBezTo>
                  <a:cubicBezTo>
                    <a:pt x="31946524" y="13107382"/>
                    <a:pt x="31830575" y="13115383"/>
                    <a:pt x="31714241" y="13122750"/>
                  </a:cubicBezTo>
                  <a:cubicBezTo>
                    <a:pt x="31459859" y="13138879"/>
                    <a:pt x="31205227" y="13153864"/>
                    <a:pt x="30950591" y="13165803"/>
                  </a:cubicBezTo>
                  <a:cubicBezTo>
                    <a:pt x="29994113" y="13179645"/>
                    <a:pt x="25579942" y="13190313"/>
                    <a:pt x="21161990" y="13186377"/>
                  </a:cubicBezTo>
                  <a:cubicBezTo>
                    <a:pt x="17154787" y="13182820"/>
                    <a:pt x="13149476" y="13171517"/>
                    <a:pt x="9142272" y="13166056"/>
                  </a:cubicBezTo>
                  <a:cubicBezTo>
                    <a:pt x="6354074" y="13162246"/>
                    <a:pt x="3565879" y="13158309"/>
                    <a:pt x="1853100" y="13160723"/>
                  </a:cubicBezTo>
                  <a:cubicBezTo>
                    <a:pt x="1674157" y="13163008"/>
                    <a:pt x="1495087" y="13167073"/>
                    <a:pt x="1316144" y="13161104"/>
                  </a:cubicBezTo>
                  <a:cubicBezTo>
                    <a:pt x="1153203" y="13155642"/>
                    <a:pt x="984166" y="13145990"/>
                    <a:pt x="827702" y="13096460"/>
                  </a:cubicBezTo>
                  <a:cubicBezTo>
                    <a:pt x="667174" y="13045660"/>
                    <a:pt x="521759" y="12952188"/>
                    <a:pt x="409872" y="12826204"/>
                  </a:cubicBezTo>
                  <a:cubicBezTo>
                    <a:pt x="290111" y="12691457"/>
                    <a:pt x="203116" y="12522039"/>
                    <a:pt x="169588" y="12344620"/>
                  </a:cubicBezTo>
                  <a:cubicBezTo>
                    <a:pt x="149268" y="12237178"/>
                    <a:pt x="144950" y="12127577"/>
                    <a:pt x="143934" y="12018485"/>
                  </a:cubicBezTo>
                  <a:cubicBezTo>
                    <a:pt x="142791" y="11903295"/>
                    <a:pt x="142918" y="11787979"/>
                    <a:pt x="141775" y="11672790"/>
                  </a:cubicBezTo>
                  <a:cubicBezTo>
                    <a:pt x="137330" y="11197429"/>
                    <a:pt x="125138" y="9076716"/>
                    <a:pt x="105580" y="6920290"/>
                  </a:cubicBezTo>
                  <a:cubicBezTo>
                    <a:pt x="86022" y="4773089"/>
                    <a:pt x="58971" y="2626465"/>
                    <a:pt x="24427" y="1680994"/>
                  </a:cubicBezTo>
                  <a:cubicBezTo>
                    <a:pt x="-5926" y="1265196"/>
                    <a:pt x="-50122" y="810155"/>
                    <a:pt x="186987" y="441474"/>
                  </a:cubicBezTo>
                  <a:cubicBezTo>
                    <a:pt x="289349" y="282343"/>
                    <a:pt x="436796" y="164233"/>
                    <a:pt x="616374" y="103781"/>
                  </a:cubicBezTo>
                  <a:cubicBezTo>
                    <a:pt x="779950" y="48663"/>
                    <a:pt x="955337" y="40027"/>
                    <a:pt x="1127168" y="48917"/>
                  </a:cubicBezTo>
                  <a:cubicBezTo>
                    <a:pt x="1226101" y="42440"/>
                    <a:pt x="1324907" y="36598"/>
                    <a:pt x="1423967" y="31518"/>
                  </a:cubicBezTo>
                  <a:cubicBezTo>
                    <a:pt x="1847258" y="9801"/>
                    <a:pt x="7007119" y="530"/>
                    <a:pt x="13323622" y="22"/>
                  </a:cubicBezTo>
                  <a:cubicBezTo>
                    <a:pt x="19780198" y="-486"/>
                    <a:pt x="26236773" y="8023"/>
                    <a:pt x="30835528" y="19961"/>
                  </a:cubicBezTo>
                  <a:cubicBezTo>
                    <a:pt x="31064001" y="26311"/>
                    <a:pt x="31292347" y="33550"/>
                    <a:pt x="31520820" y="41297"/>
                  </a:cubicBezTo>
                  <a:cubicBezTo>
                    <a:pt x="31627120" y="44853"/>
                    <a:pt x="31734180" y="44853"/>
                    <a:pt x="31839718" y="59839"/>
                  </a:cubicBezTo>
                  <a:cubicBezTo>
                    <a:pt x="31931793" y="72920"/>
                    <a:pt x="32022088" y="96923"/>
                    <a:pt x="32107813" y="133118"/>
                  </a:cubicBezTo>
                  <a:cubicBezTo>
                    <a:pt x="32235703" y="187093"/>
                    <a:pt x="32378070" y="272564"/>
                    <a:pt x="32437886" y="403882"/>
                  </a:cubicBezTo>
                  <a:cubicBezTo>
                    <a:pt x="32487418" y="512721"/>
                    <a:pt x="32506341" y="634133"/>
                    <a:pt x="32521072" y="751862"/>
                  </a:cubicBezTo>
                  <a:cubicBezTo>
                    <a:pt x="32555488" y="1025801"/>
                    <a:pt x="32554220" y="1303550"/>
                    <a:pt x="32552568" y="1579267"/>
                  </a:cubicBezTo>
                  <a:cubicBezTo>
                    <a:pt x="32550537" y="1907816"/>
                    <a:pt x="32552059" y="3004705"/>
                    <a:pt x="32549774" y="4496906"/>
                  </a:cubicBezTo>
                  <a:cubicBezTo>
                    <a:pt x="32547235" y="6086549"/>
                    <a:pt x="32554980" y="7673309"/>
                    <a:pt x="32576827" y="9260071"/>
                  </a:cubicBezTo>
                  <a:cubicBezTo>
                    <a:pt x="32602100" y="11108601"/>
                    <a:pt x="32647945" y="11575254"/>
                    <a:pt x="32629530" y="119838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27879" y="832677"/>
            <a:ext cx="12832242" cy="2010162"/>
            <a:chOff x="0" y="0"/>
            <a:chExt cx="3379685" cy="5294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379685" cy="529425"/>
            </a:xfrm>
            <a:custGeom>
              <a:avLst/>
              <a:gdLst/>
              <a:ahLst/>
              <a:cxnLst/>
              <a:rect r="r" b="b" t="t" l="l"/>
              <a:pathLst>
                <a:path h="529425" w="3379685">
                  <a:moveTo>
                    <a:pt x="0" y="0"/>
                  </a:moveTo>
                  <a:lnTo>
                    <a:pt x="3379685" y="0"/>
                  </a:lnTo>
                  <a:lnTo>
                    <a:pt x="3379685" y="529425"/>
                  </a:lnTo>
                  <a:lnTo>
                    <a:pt x="0" y="529425"/>
                  </a:lnTo>
                  <a:close/>
                </a:path>
              </a:pathLst>
            </a:custGeom>
            <a:solidFill>
              <a:srgbClr val="3678C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23825"/>
              <a:ext cx="3379685" cy="405600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ctr" marL="0" indent="0" lvl="0">
                <a:lnSpc>
                  <a:spcPts val="7900"/>
                </a:lnSpc>
                <a:spcBef>
                  <a:spcPct val="0"/>
                </a:spcBef>
              </a:pPr>
              <a:r>
                <a:rPr lang="en-US" sz="7900">
                  <a:solidFill>
                    <a:srgbClr val="FFFFFF"/>
                  </a:solidFill>
                  <a:latin typeface="Ahkio"/>
                  <a:ea typeface="Ahkio"/>
                  <a:cs typeface="Ahkio"/>
                  <a:sym typeface="Ahkio"/>
                </a:rPr>
                <a:t>CLUSTERING (KMEANS/HDBSCAN)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29851" y="3105881"/>
            <a:ext cx="6876068" cy="4563792"/>
          </a:xfrm>
          <a:custGeom>
            <a:avLst/>
            <a:gdLst/>
            <a:ahLst/>
            <a:cxnLst/>
            <a:rect r="r" b="b" t="t" l="l"/>
            <a:pathLst>
              <a:path h="4563792" w="6876068">
                <a:moveTo>
                  <a:pt x="0" y="0"/>
                </a:moveTo>
                <a:lnTo>
                  <a:pt x="6876068" y="0"/>
                </a:lnTo>
                <a:lnTo>
                  <a:pt x="6876068" y="4563791"/>
                </a:lnTo>
                <a:lnTo>
                  <a:pt x="0" y="45637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6621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8829675" y="3105881"/>
            <a:ext cx="7885601" cy="4563792"/>
          </a:xfrm>
          <a:custGeom>
            <a:avLst/>
            <a:gdLst/>
            <a:ahLst/>
            <a:cxnLst/>
            <a:rect r="r" b="b" t="t" l="l"/>
            <a:pathLst>
              <a:path h="4563792" w="7885601">
                <a:moveTo>
                  <a:pt x="0" y="0"/>
                </a:moveTo>
                <a:lnTo>
                  <a:pt x="7885601" y="0"/>
                </a:lnTo>
                <a:lnTo>
                  <a:pt x="7885601" y="4563791"/>
                </a:lnTo>
                <a:lnTo>
                  <a:pt x="0" y="45637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6934101" y="7983997"/>
            <a:ext cx="3448249" cy="400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Ahkio"/>
                <a:ea typeface="Ahkio"/>
                <a:cs typeface="Ahkio"/>
                <a:sym typeface="Ahkio"/>
              </a:rPr>
              <a:t>SILHOUETTE SCORE: 0.56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62398" y="-142875"/>
            <a:ext cx="525602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03417" y="2833672"/>
            <a:ext cx="9655883" cy="5370470"/>
            <a:chOff x="0" y="0"/>
            <a:chExt cx="12228734" cy="68014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43" y="-22"/>
              <a:ext cx="12228837" cy="6801286"/>
            </a:xfrm>
            <a:custGeom>
              <a:avLst/>
              <a:gdLst/>
              <a:ahLst/>
              <a:cxnLst/>
              <a:rect r="r" b="b" t="t" l="l"/>
              <a:pathLst>
                <a:path h="6801286" w="12228837">
                  <a:moveTo>
                    <a:pt x="12224585" y="5597898"/>
                  </a:moveTo>
                  <a:cubicBezTo>
                    <a:pt x="12210870" y="5903206"/>
                    <a:pt x="12170992" y="6240899"/>
                    <a:pt x="11960933" y="6480167"/>
                  </a:cubicBezTo>
                  <a:cubicBezTo>
                    <a:pt x="11878257" y="6574401"/>
                    <a:pt x="11770942" y="6643107"/>
                    <a:pt x="11652705" y="6683494"/>
                  </a:cubicBezTo>
                  <a:cubicBezTo>
                    <a:pt x="11541580" y="6721467"/>
                    <a:pt x="11425629" y="6729468"/>
                    <a:pt x="11309296" y="6736833"/>
                  </a:cubicBezTo>
                  <a:cubicBezTo>
                    <a:pt x="11054916" y="6752963"/>
                    <a:pt x="10800281" y="6767948"/>
                    <a:pt x="10545645" y="6779886"/>
                  </a:cubicBezTo>
                  <a:cubicBezTo>
                    <a:pt x="10091242" y="6793730"/>
                    <a:pt x="8807619" y="6804397"/>
                    <a:pt x="7522897" y="6800460"/>
                  </a:cubicBezTo>
                  <a:cubicBezTo>
                    <a:pt x="6357619" y="6796905"/>
                    <a:pt x="5192891" y="6785602"/>
                    <a:pt x="4027613" y="6780141"/>
                  </a:cubicBezTo>
                  <a:cubicBezTo>
                    <a:pt x="3216816" y="6776331"/>
                    <a:pt x="2406021" y="6772394"/>
                    <a:pt x="1853100" y="6774807"/>
                  </a:cubicBezTo>
                  <a:cubicBezTo>
                    <a:pt x="1674157" y="6777093"/>
                    <a:pt x="1495087" y="6781157"/>
                    <a:pt x="1316144" y="6775188"/>
                  </a:cubicBezTo>
                  <a:cubicBezTo>
                    <a:pt x="1153203" y="6769727"/>
                    <a:pt x="984166" y="6760074"/>
                    <a:pt x="827702" y="6710545"/>
                  </a:cubicBezTo>
                  <a:cubicBezTo>
                    <a:pt x="667174" y="6659745"/>
                    <a:pt x="521759" y="6566272"/>
                    <a:pt x="409872" y="6440289"/>
                  </a:cubicBezTo>
                  <a:cubicBezTo>
                    <a:pt x="290111" y="6305542"/>
                    <a:pt x="203116" y="6136124"/>
                    <a:pt x="169588" y="5958705"/>
                  </a:cubicBezTo>
                  <a:cubicBezTo>
                    <a:pt x="149268" y="5851263"/>
                    <a:pt x="144950" y="5741662"/>
                    <a:pt x="143934" y="5632569"/>
                  </a:cubicBezTo>
                  <a:cubicBezTo>
                    <a:pt x="142791" y="5517380"/>
                    <a:pt x="142918" y="5402064"/>
                    <a:pt x="141775" y="5286875"/>
                  </a:cubicBezTo>
                  <a:cubicBezTo>
                    <a:pt x="137330" y="4811514"/>
                    <a:pt x="125138" y="4160766"/>
                    <a:pt x="105580" y="3506436"/>
                  </a:cubicBezTo>
                  <a:cubicBezTo>
                    <a:pt x="86022" y="2854905"/>
                    <a:pt x="58971" y="2203549"/>
                    <a:pt x="24427" y="1680994"/>
                  </a:cubicBezTo>
                  <a:cubicBezTo>
                    <a:pt x="-5926" y="1265196"/>
                    <a:pt x="-50122" y="810155"/>
                    <a:pt x="186987" y="441474"/>
                  </a:cubicBezTo>
                  <a:cubicBezTo>
                    <a:pt x="289349" y="282343"/>
                    <a:pt x="436796" y="164233"/>
                    <a:pt x="616374" y="103781"/>
                  </a:cubicBezTo>
                  <a:cubicBezTo>
                    <a:pt x="779950" y="48663"/>
                    <a:pt x="955337" y="40027"/>
                    <a:pt x="1127168" y="48917"/>
                  </a:cubicBezTo>
                  <a:cubicBezTo>
                    <a:pt x="1226101" y="42440"/>
                    <a:pt x="1324907" y="36598"/>
                    <a:pt x="1423967" y="31518"/>
                  </a:cubicBezTo>
                  <a:cubicBezTo>
                    <a:pt x="1847258" y="9801"/>
                    <a:pt x="3406719" y="530"/>
                    <a:pt x="5243532" y="22"/>
                  </a:cubicBezTo>
                  <a:cubicBezTo>
                    <a:pt x="7121077" y="-486"/>
                    <a:pt x="8998622" y="8023"/>
                    <a:pt x="10430584" y="19961"/>
                  </a:cubicBezTo>
                  <a:cubicBezTo>
                    <a:pt x="10659057" y="26311"/>
                    <a:pt x="10887402" y="33550"/>
                    <a:pt x="11115875" y="41297"/>
                  </a:cubicBezTo>
                  <a:cubicBezTo>
                    <a:pt x="11222175" y="44853"/>
                    <a:pt x="11329235" y="44853"/>
                    <a:pt x="11434773" y="59839"/>
                  </a:cubicBezTo>
                  <a:cubicBezTo>
                    <a:pt x="11526848" y="72920"/>
                    <a:pt x="11617145" y="96923"/>
                    <a:pt x="11702870" y="133118"/>
                  </a:cubicBezTo>
                  <a:cubicBezTo>
                    <a:pt x="11830759" y="187093"/>
                    <a:pt x="11973125" y="272564"/>
                    <a:pt x="12032943" y="403882"/>
                  </a:cubicBezTo>
                  <a:cubicBezTo>
                    <a:pt x="12082473" y="512721"/>
                    <a:pt x="12101396" y="634133"/>
                    <a:pt x="12116127" y="751862"/>
                  </a:cubicBezTo>
                  <a:cubicBezTo>
                    <a:pt x="12150545" y="1025801"/>
                    <a:pt x="12149275" y="1303550"/>
                    <a:pt x="12147624" y="1579267"/>
                  </a:cubicBezTo>
                  <a:cubicBezTo>
                    <a:pt x="12145592" y="1907816"/>
                    <a:pt x="12147116" y="2318320"/>
                    <a:pt x="12144830" y="2771102"/>
                  </a:cubicBezTo>
                  <a:cubicBezTo>
                    <a:pt x="12142290" y="3253452"/>
                    <a:pt x="12150036" y="3734927"/>
                    <a:pt x="12171881" y="4216402"/>
                  </a:cubicBezTo>
                  <a:cubicBezTo>
                    <a:pt x="12197154" y="4777306"/>
                    <a:pt x="12243000" y="5189339"/>
                    <a:pt x="12224585" y="559789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905586" y="3743980"/>
            <a:ext cx="1922734" cy="2057400"/>
          </a:xfrm>
          <a:custGeom>
            <a:avLst/>
            <a:gdLst/>
            <a:ahLst/>
            <a:cxnLst/>
            <a:rect r="r" b="b" t="t" l="l"/>
            <a:pathLst>
              <a:path h="2057400" w="1922734">
                <a:moveTo>
                  <a:pt x="0" y="0"/>
                </a:moveTo>
                <a:lnTo>
                  <a:pt x="1922734" y="0"/>
                </a:lnTo>
                <a:lnTo>
                  <a:pt x="1922734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874471"/>
            <a:ext cx="5676505" cy="231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800">
                <a:solidFill>
                  <a:srgbClr val="101010"/>
                </a:solidFill>
                <a:latin typeface="Ahkio"/>
                <a:ea typeface="Ahkio"/>
                <a:cs typeface="Ahkio"/>
                <a:sym typeface="Ahkio"/>
              </a:rPr>
              <a:t>BOOK SHOWDOWN!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95121" y="4515505"/>
            <a:ext cx="6307320" cy="1677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22"/>
              </a:lnSpc>
            </a:pPr>
            <a:r>
              <a:rPr lang="en-US" b="true" sz="9395">
                <a:solidFill>
                  <a:srgbClr val="000000"/>
                </a:solidFill>
                <a:latin typeface="Ahkio Bold"/>
                <a:ea typeface="Ahkio Bold"/>
                <a:cs typeface="Ahkio Bold"/>
                <a:sym typeface="Ahkio Bold"/>
              </a:rPr>
              <a:t>STREAMLIT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249985">
            <a:off x="15406274" y="131660"/>
            <a:ext cx="3744152" cy="3294854"/>
          </a:xfrm>
          <a:custGeom>
            <a:avLst/>
            <a:gdLst/>
            <a:ahLst/>
            <a:cxnLst/>
            <a:rect r="r" b="b" t="t" l="l"/>
            <a:pathLst>
              <a:path h="3294854" w="3744152">
                <a:moveTo>
                  <a:pt x="3744152" y="0"/>
                </a:moveTo>
                <a:lnTo>
                  <a:pt x="0" y="0"/>
                </a:lnTo>
                <a:lnTo>
                  <a:pt x="0" y="3294854"/>
                </a:lnTo>
                <a:lnTo>
                  <a:pt x="3744152" y="3294854"/>
                </a:lnTo>
                <a:lnTo>
                  <a:pt x="374415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762398" y="-142875"/>
            <a:ext cx="525602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99464"/>
            <a:ext cx="16230600" cy="6558836"/>
            <a:chOff x="0" y="0"/>
            <a:chExt cx="32633678" cy="131873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43" y="-22"/>
              <a:ext cx="32633782" cy="13187203"/>
            </a:xfrm>
            <a:custGeom>
              <a:avLst/>
              <a:gdLst/>
              <a:ahLst/>
              <a:cxnLst/>
              <a:rect r="r" b="b" t="t" l="l"/>
              <a:pathLst>
                <a:path h="13187203" w="32633782">
                  <a:moveTo>
                    <a:pt x="32629530" y="11983813"/>
                  </a:moveTo>
                  <a:cubicBezTo>
                    <a:pt x="32615813" y="12289121"/>
                    <a:pt x="32575937" y="12626814"/>
                    <a:pt x="32365878" y="12866082"/>
                  </a:cubicBezTo>
                  <a:cubicBezTo>
                    <a:pt x="32283201" y="12960316"/>
                    <a:pt x="32175887" y="13029024"/>
                    <a:pt x="32057649" y="13069409"/>
                  </a:cubicBezTo>
                  <a:cubicBezTo>
                    <a:pt x="31946524" y="13107382"/>
                    <a:pt x="31830575" y="13115383"/>
                    <a:pt x="31714241" y="13122750"/>
                  </a:cubicBezTo>
                  <a:cubicBezTo>
                    <a:pt x="31459859" y="13138879"/>
                    <a:pt x="31205227" y="13153864"/>
                    <a:pt x="30950591" y="13165803"/>
                  </a:cubicBezTo>
                  <a:cubicBezTo>
                    <a:pt x="29994113" y="13179645"/>
                    <a:pt x="25579942" y="13190313"/>
                    <a:pt x="21161990" y="13186377"/>
                  </a:cubicBezTo>
                  <a:cubicBezTo>
                    <a:pt x="17154787" y="13182820"/>
                    <a:pt x="13149476" y="13171517"/>
                    <a:pt x="9142272" y="13166056"/>
                  </a:cubicBezTo>
                  <a:cubicBezTo>
                    <a:pt x="6354074" y="13162246"/>
                    <a:pt x="3565879" y="13158309"/>
                    <a:pt x="1853100" y="13160723"/>
                  </a:cubicBezTo>
                  <a:cubicBezTo>
                    <a:pt x="1674157" y="13163008"/>
                    <a:pt x="1495087" y="13167073"/>
                    <a:pt x="1316144" y="13161104"/>
                  </a:cubicBezTo>
                  <a:cubicBezTo>
                    <a:pt x="1153203" y="13155642"/>
                    <a:pt x="984166" y="13145990"/>
                    <a:pt x="827702" y="13096460"/>
                  </a:cubicBezTo>
                  <a:cubicBezTo>
                    <a:pt x="667174" y="13045660"/>
                    <a:pt x="521759" y="12952188"/>
                    <a:pt x="409872" y="12826204"/>
                  </a:cubicBezTo>
                  <a:cubicBezTo>
                    <a:pt x="290111" y="12691457"/>
                    <a:pt x="203116" y="12522039"/>
                    <a:pt x="169588" y="12344620"/>
                  </a:cubicBezTo>
                  <a:cubicBezTo>
                    <a:pt x="149268" y="12237178"/>
                    <a:pt x="144950" y="12127577"/>
                    <a:pt x="143934" y="12018485"/>
                  </a:cubicBezTo>
                  <a:cubicBezTo>
                    <a:pt x="142791" y="11903295"/>
                    <a:pt x="142918" y="11787979"/>
                    <a:pt x="141775" y="11672790"/>
                  </a:cubicBezTo>
                  <a:cubicBezTo>
                    <a:pt x="137330" y="11197429"/>
                    <a:pt x="125138" y="9076716"/>
                    <a:pt x="105580" y="6920290"/>
                  </a:cubicBezTo>
                  <a:cubicBezTo>
                    <a:pt x="86022" y="4773089"/>
                    <a:pt x="58971" y="2626465"/>
                    <a:pt x="24427" y="1680994"/>
                  </a:cubicBezTo>
                  <a:cubicBezTo>
                    <a:pt x="-5926" y="1265196"/>
                    <a:pt x="-50122" y="810155"/>
                    <a:pt x="186987" y="441474"/>
                  </a:cubicBezTo>
                  <a:cubicBezTo>
                    <a:pt x="289349" y="282343"/>
                    <a:pt x="436796" y="164233"/>
                    <a:pt x="616374" y="103781"/>
                  </a:cubicBezTo>
                  <a:cubicBezTo>
                    <a:pt x="779950" y="48663"/>
                    <a:pt x="955337" y="40027"/>
                    <a:pt x="1127168" y="48917"/>
                  </a:cubicBezTo>
                  <a:cubicBezTo>
                    <a:pt x="1226101" y="42440"/>
                    <a:pt x="1324907" y="36598"/>
                    <a:pt x="1423967" y="31518"/>
                  </a:cubicBezTo>
                  <a:cubicBezTo>
                    <a:pt x="1847258" y="9801"/>
                    <a:pt x="7007119" y="530"/>
                    <a:pt x="13323622" y="22"/>
                  </a:cubicBezTo>
                  <a:cubicBezTo>
                    <a:pt x="19780198" y="-486"/>
                    <a:pt x="26236773" y="8023"/>
                    <a:pt x="30835528" y="19961"/>
                  </a:cubicBezTo>
                  <a:cubicBezTo>
                    <a:pt x="31064001" y="26311"/>
                    <a:pt x="31292347" y="33550"/>
                    <a:pt x="31520820" y="41297"/>
                  </a:cubicBezTo>
                  <a:cubicBezTo>
                    <a:pt x="31627120" y="44853"/>
                    <a:pt x="31734180" y="44853"/>
                    <a:pt x="31839718" y="59839"/>
                  </a:cubicBezTo>
                  <a:cubicBezTo>
                    <a:pt x="31931793" y="72920"/>
                    <a:pt x="32022088" y="96923"/>
                    <a:pt x="32107813" y="133118"/>
                  </a:cubicBezTo>
                  <a:cubicBezTo>
                    <a:pt x="32235703" y="187093"/>
                    <a:pt x="32378070" y="272564"/>
                    <a:pt x="32437886" y="403882"/>
                  </a:cubicBezTo>
                  <a:cubicBezTo>
                    <a:pt x="32487418" y="512721"/>
                    <a:pt x="32506341" y="634133"/>
                    <a:pt x="32521072" y="751862"/>
                  </a:cubicBezTo>
                  <a:cubicBezTo>
                    <a:pt x="32555488" y="1025801"/>
                    <a:pt x="32554220" y="1303550"/>
                    <a:pt x="32552568" y="1579267"/>
                  </a:cubicBezTo>
                  <a:cubicBezTo>
                    <a:pt x="32550537" y="1907816"/>
                    <a:pt x="32552059" y="3004705"/>
                    <a:pt x="32549774" y="4496906"/>
                  </a:cubicBezTo>
                  <a:cubicBezTo>
                    <a:pt x="32547235" y="6086549"/>
                    <a:pt x="32554980" y="7673309"/>
                    <a:pt x="32576827" y="9260071"/>
                  </a:cubicBezTo>
                  <a:cubicBezTo>
                    <a:pt x="32602100" y="11108601"/>
                    <a:pt x="32647945" y="11575254"/>
                    <a:pt x="32629530" y="1198381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543095" y="940890"/>
            <a:ext cx="13201810" cy="2013092"/>
            <a:chOff x="0" y="0"/>
            <a:chExt cx="3477020" cy="5301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77020" cy="530197"/>
            </a:xfrm>
            <a:custGeom>
              <a:avLst/>
              <a:gdLst/>
              <a:ahLst/>
              <a:cxnLst/>
              <a:rect r="r" b="b" t="t" l="l"/>
              <a:pathLst>
                <a:path h="530197" w="3477020">
                  <a:moveTo>
                    <a:pt x="0" y="0"/>
                  </a:moveTo>
                  <a:lnTo>
                    <a:pt x="3477020" y="0"/>
                  </a:lnTo>
                  <a:lnTo>
                    <a:pt x="3477020" y="530197"/>
                  </a:lnTo>
                  <a:lnTo>
                    <a:pt x="0" y="530197"/>
                  </a:lnTo>
                  <a:close/>
                </a:path>
              </a:pathLst>
            </a:custGeom>
            <a:solidFill>
              <a:srgbClr val="3678C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133350"/>
              <a:ext cx="3477020" cy="396847"/>
            </a:xfrm>
            <a:prstGeom prst="rect">
              <a:avLst/>
            </a:prstGeom>
          </p:spPr>
          <p:txBody>
            <a:bodyPr anchor="t" rtlCol="false" tIns="254000" lIns="254000" bIns="254000" rIns="254000"/>
            <a:lstStyle/>
            <a:p>
              <a:pPr algn="ctr" marL="0" indent="0" lvl="0">
                <a:lnSpc>
                  <a:spcPts val="8800"/>
                </a:lnSpc>
                <a:spcBef>
                  <a:spcPct val="0"/>
                </a:spcBef>
              </a:pPr>
              <a:r>
                <a:rPr lang="en-US" sz="8800">
                  <a:solidFill>
                    <a:srgbClr val="FFFFFF"/>
                  </a:solidFill>
                  <a:latin typeface="Ahkio"/>
                  <a:ea typeface="Ahkio"/>
                  <a:cs typeface="Ahkio"/>
                  <a:sym typeface="Ahkio"/>
                </a:rPr>
                <a:t>CHALLANGES FACED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16498156" y="641324"/>
            <a:ext cx="2663212" cy="774753"/>
          </a:xfrm>
          <a:custGeom>
            <a:avLst/>
            <a:gdLst/>
            <a:ahLst/>
            <a:cxnLst/>
            <a:rect r="r" b="b" t="t" l="l"/>
            <a:pathLst>
              <a:path h="774753" w="2663212">
                <a:moveTo>
                  <a:pt x="2663213" y="0"/>
                </a:moveTo>
                <a:lnTo>
                  <a:pt x="0" y="0"/>
                </a:lnTo>
                <a:lnTo>
                  <a:pt x="0" y="774752"/>
                </a:lnTo>
                <a:lnTo>
                  <a:pt x="2663213" y="774752"/>
                </a:lnTo>
                <a:lnTo>
                  <a:pt x="266321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666476">
            <a:off x="69614" y="7893450"/>
            <a:ext cx="2426951" cy="2729699"/>
          </a:xfrm>
          <a:custGeom>
            <a:avLst/>
            <a:gdLst/>
            <a:ahLst/>
            <a:cxnLst/>
            <a:rect r="r" b="b" t="t" l="l"/>
            <a:pathLst>
              <a:path h="2729699" w="2426951">
                <a:moveTo>
                  <a:pt x="0" y="0"/>
                </a:moveTo>
                <a:lnTo>
                  <a:pt x="2426950" y="0"/>
                </a:lnTo>
                <a:lnTo>
                  <a:pt x="2426950" y="2729700"/>
                </a:lnTo>
                <a:lnTo>
                  <a:pt x="0" y="2729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56294" y="3909411"/>
            <a:ext cx="13975412" cy="4850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Data Collection and Cleaning: Book metadata is often inconsistent, incomplete, or contains "noise" </a:t>
            </a:r>
          </a:p>
          <a:p>
            <a:pPr algn="l">
              <a:lnSpc>
                <a:spcPts val="1160"/>
              </a:lnSpc>
            </a:pP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Selection on meaningful model</a:t>
            </a:r>
          </a:p>
          <a:p>
            <a:pPr algn="l">
              <a:lnSpc>
                <a:spcPts val="1160"/>
              </a:lnSpc>
            </a:pP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Handling High-Dimensional Embeddings</a:t>
            </a:r>
          </a:p>
          <a:p>
            <a:pPr algn="l">
              <a:lnSpc>
                <a:spcPts val="1160"/>
              </a:lnSpc>
            </a:pP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</a:t>
            </a: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nderstanding and implementing advanced machine learning concepts </a:t>
            </a:r>
          </a:p>
          <a:p>
            <a:pPr algn="l">
              <a:lnSpc>
                <a:spcPts val="1160"/>
              </a:lnSpc>
            </a:pP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User Interface Design</a:t>
            </a:r>
          </a:p>
          <a:p>
            <a:pPr algn="l">
              <a:lnSpc>
                <a:spcPts val="1160"/>
              </a:lnSpc>
            </a:pPr>
          </a:p>
          <a:p>
            <a:pPr algn="l" marL="690882" indent="-345441" lvl="1">
              <a:lnSpc>
                <a:spcPts val="46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Data Loss and Recovery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06918" y="431774"/>
            <a:ext cx="2663212" cy="774753"/>
          </a:xfrm>
          <a:custGeom>
            <a:avLst/>
            <a:gdLst/>
            <a:ahLst/>
            <a:cxnLst/>
            <a:rect r="r" b="b" t="t" l="l"/>
            <a:pathLst>
              <a:path h="774753" w="2663212">
                <a:moveTo>
                  <a:pt x="0" y="0"/>
                </a:moveTo>
                <a:lnTo>
                  <a:pt x="2663212" y="0"/>
                </a:lnTo>
                <a:lnTo>
                  <a:pt x="2663212" y="774752"/>
                </a:lnTo>
                <a:lnTo>
                  <a:pt x="0" y="7747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04278">
            <a:off x="15360884" y="6641"/>
            <a:ext cx="2296573" cy="3072338"/>
          </a:xfrm>
          <a:custGeom>
            <a:avLst/>
            <a:gdLst/>
            <a:ahLst/>
            <a:cxnLst/>
            <a:rect r="r" b="b" t="t" l="l"/>
            <a:pathLst>
              <a:path h="3072338" w="2296573">
                <a:moveTo>
                  <a:pt x="0" y="0"/>
                </a:moveTo>
                <a:lnTo>
                  <a:pt x="2296572" y="0"/>
                </a:lnTo>
                <a:lnTo>
                  <a:pt x="2296572" y="3072338"/>
                </a:lnTo>
                <a:lnTo>
                  <a:pt x="0" y="30723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762398" y="-142875"/>
            <a:ext cx="525602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BE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16371" y="375588"/>
            <a:ext cx="4490142" cy="1306223"/>
          </a:xfrm>
          <a:custGeom>
            <a:avLst/>
            <a:gdLst/>
            <a:ahLst/>
            <a:cxnLst/>
            <a:rect r="r" b="b" t="t" l="l"/>
            <a:pathLst>
              <a:path h="1306223" w="4490142">
                <a:moveTo>
                  <a:pt x="0" y="0"/>
                </a:moveTo>
                <a:lnTo>
                  <a:pt x="4490142" y="0"/>
                </a:lnTo>
                <a:lnTo>
                  <a:pt x="4490142" y="1306224"/>
                </a:lnTo>
                <a:lnTo>
                  <a:pt x="0" y="1306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14229" y="1491312"/>
            <a:ext cx="4490142" cy="1306223"/>
          </a:xfrm>
          <a:custGeom>
            <a:avLst/>
            <a:gdLst/>
            <a:ahLst/>
            <a:cxnLst/>
            <a:rect r="r" b="b" t="t" l="l"/>
            <a:pathLst>
              <a:path h="1306223" w="4490142">
                <a:moveTo>
                  <a:pt x="0" y="0"/>
                </a:moveTo>
                <a:lnTo>
                  <a:pt x="4490142" y="0"/>
                </a:lnTo>
                <a:lnTo>
                  <a:pt x="4490142" y="1306223"/>
                </a:lnTo>
                <a:lnTo>
                  <a:pt x="0" y="1306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543121" y="9258300"/>
            <a:ext cx="19374241" cy="2237603"/>
            <a:chOff x="0" y="0"/>
            <a:chExt cx="25832321" cy="29834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233134" cy="2983470"/>
            </a:xfrm>
            <a:custGeom>
              <a:avLst/>
              <a:gdLst/>
              <a:ahLst/>
              <a:cxnLst/>
              <a:rect r="r" b="b" t="t" l="l"/>
              <a:pathLst>
                <a:path h="2983470" w="13233134">
                  <a:moveTo>
                    <a:pt x="0" y="0"/>
                  </a:moveTo>
                  <a:lnTo>
                    <a:pt x="13233134" y="0"/>
                  </a:lnTo>
                  <a:lnTo>
                    <a:pt x="13233134" y="2983470"/>
                  </a:lnTo>
                  <a:lnTo>
                    <a:pt x="0" y="2983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false" rot="0">
              <a:off x="12599188" y="0"/>
              <a:ext cx="13233134" cy="2983470"/>
            </a:xfrm>
            <a:custGeom>
              <a:avLst/>
              <a:gdLst/>
              <a:ahLst/>
              <a:cxnLst/>
              <a:rect r="r" b="b" t="t" l="l"/>
              <a:pathLst>
                <a:path h="2983470" w="13233134">
                  <a:moveTo>
                    <a:pt x="13233133" y="0"/>
                  </a:moveTo>
                  <a:lnTo>
                    <a:pt x="0" y="0"/>
                  </a:lnTo>
                  <a:lnTo>
                    <a:pt x="0" y="2983470"/>
                  </a:lnTo>
                  <a:lnTo>
                    <a:pt x="13233133" y="2983470"/>
                  </a:lnTo>
                  <a:lnTo>
                    <a:pt x="13233133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240840" y="8076179"/>
            <a:ext cx="1059028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900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-</a:t>
            </a:r>
            <a:r>
              <a:rPr lang="en-US" sz="4900" strike="noStrike" u="none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Supriya Gir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482653" y="3487390"/>
            <a:ext cx="7911176" cy="3312220"/>
            <a:chOff x="0" y="0"/>
            <a:chExt cx="17695624" cy="74087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43" y="-22"/>
              <a:ext cx="17695728" cy="7408567"/>
            </a:xfrm>
            <a:custGeom>
              <a:avLst/>
              <a:gdLst/>
              <a:ahLst/>
              <a:cxnLst/>
              <a:rect r="r" b="b" t="t" l="l"/>
              <a:pathLst>
                <a:path h="7408567" w="17695728">
                  <a:moveTo>
                    <a:pt x="17691476" y="6205178"/>
                  </a:moveTo>
                  <a:cubicBezTo>
                    <a:pt x="17677761" y="6510486"/>
                    <a:pt x="17637881" y="6848179"/>
                    <a:pt x="17427824" y="7087447"/>
                  </a:cubicBezTo>
                  <a:cubicBezTo>
                    <a:pt x="17345147" y="7181681"/>
                    <a:pt x="17237831" y="7250388"/>
                    <a:pt x="17119595" y="7290774"/>
                  </a:cubicBezTo>
                  <a:cubicBezTo>
                    <a:pt x="17008470" y="7328747"/>
                    <a:pt x="16892519" y="7336748"/>
                    <a:pt x="16776186" y="7344114"/>
                  </a:cubicBezTo>
                  <a:cubicBezTo>
                    <a:pt x="16521807" y="7360243"/>
                    <a:pt x="16267171" y="7375229"/>
                    <a:pt x="16012535" y="7387167"/>
                  </a:cubicBezTo>
                  <a:cubicBezTo>
                    <a:pt x="15423616" y="7401010"/>
                    <a:pt x="13301257" y="7411678"/>
                    <a:pt x="11177081" y="7407741"/>
                  </a:cubicBezTo>
                  <a:cubicBezTo>
                    <a:pt x="9250395" y="7404185"/>
                    <a:pt x="7324618" y="7392882"/>
                    <a:pt x="5397932" y="7387421"/>
                  </a:cubicBezTo>
                  <a:cubicBezTo>
                    <a:pt x="4057350" y="7383611"/>
                    <a:pt x="2716770" y="7379674"/>
                    <a:pt x="1853100" y="7382087"/>
                  </a:cubicBezTo>
                  <a:cubicBezTo>
                    <a:pt x="1674157" y="7384373"/>
                    <a:pt x="1495087" y="7388437"/>
                    <a:pt x="1316144" y="7382468"/>
                  </a:cubicBezTo>
                  <a:cubicBezTo>
                    <a:pt x="1153203" y="7377007"/>
                    <a:pt x="984166" y="7367355"/>
                    <a:pt x="827702" y="7317825"/>
                  </a:cubicBezTo>
                  <a:cubicBezTo>
                    <a:pt x="667174" y="7267025"/>
                    <a:pt x="521759" y="7173553"/>
                    <a:pt x="409872" y="7047569"/>
                  </a:cubicBezTo>
                  <a:cubicBezTo>
                    <a:pt x="290111" y="6912822"/>
                    <a:pt x="203116" y="6743404"/>
                    <a:pt x="169588" y="6565985"/>
                  </a:cubicBezTo>
                  <a:cubicBezTo>
                    <a:pt x="149268" y="6458543"/>
                    <a:pt x="144950" y="6348942"/>
                    <a:pt x="143934" y="6239849"/>
                  </a:cubicBezTo>
                  <a:cubicBezTo>
                    <a:pt x="142791" y="6124660"/>
                    <a:pt x="142918" y="6009344"/>
                    <a:pt x="141775" y="5894155"/>
                  </a:cubicBezTo>
                  <a:cubicBezTo>
                    <a:pt x="137330" y="5418794"/>
                    <a:pt x="125138" y="4628257"/>
                    <a:pt x="105580" y="3831083"/>
                  </a:cubicBezTo>
                  <a:cubicBezTo>
                    <a:pt x="86022" y="3037318"/>
                    <a:pt x="58971" y="2243767"/>
                    <a:pt x="24427" y="1680994"/>
                  </a:cubicBezTo>
                  <a:cubicBezTo>
                    <a:pt x="-5926" y="1265196"/>
                    <a:pt x="-50122" y="810155"/>
                    <a:pt x="186987" y="441474"/>
                  </a:cubicBezTo>
                  <a:cubicBezTo>
                    <a:pt x="289349" y="282343"/>
                    <a:pt x="436796" y="164233"/>
                    <a:pt x="616374" y="103781"/>
                  </a:cubicBezTo>
                  <a:cubicBezTo>
                    <a:pt x="779950" y="48663"/>
                    <a:pt x="955337" y="40027"/>
                    <a:pt x="1127168" y="48917"/>
                  </a:cubicBezTo>
                  <a:cubicBezTo>
                    <a:pt x="1226101" y="42440"/>
                    <a:pt x="1324907" y="36598"/>
                    <a:pt x="1423967" y="31518"/>
                  </a:cubicBezTo>
                  <a:cubicBezTo>
                    <a:pt x="1847258" y="9801"/>
                    <a:pt x="4371338" y="530"/>
                    <a:pt x="7408349" y="22"/>
                  </a:cubicBezTo>
                  <a:cubicBezTo>
                    <a:pt x="10512708" y="-486"/>
                    <a:pt x="13617066" y="8023"/>
                    <a:pt x="15897474" y="19961"/>
                  </a:cubicBezTo>
                  <a:cubicBezTo>
                    <a:pt x="16125947" y="26311"/>
                    <a:pt x="16354293" y="33550"/>
                    <a:pt x="16582766" y="41297"/>
                  </a:cubicBezTo>
                  <a:cubicBezTo>
                    <a:pt x="16689065" y="44853"/>
                    <a:pt x="16796126" y="44853"/>
                    <a:pt x="16901663" y="59839"/>
                  </a:cubicBezTo>
                  <a:cubicBezTo>
                    <a:pt x="16993738" y="72920"/>
                    <a:pt x="17084036" y="96923"/>
                    <a:pt x="17169761" y="133118"/>
                  </a:cubicBezTo>
                  <a:cubicBezTo>
                    <a:pt x="17297649" y="187093"/>
                    <a:pt x="17440016" y="272564"/>
                    <a:pt x="17499834" y="403882"/>
                  </a:cubicBezTo>
                  <a:cubicBezTo>
                    <a:pt x="17549363" y="512721"/>
                    <a:pt x="17568285" y="634133"/>
                    <a:pt x="17583018" y="751862"/>
                  </a:cubicBezTo>
                  <a:cubicBezTo>
                    <a:pt x="17617436" y="1025801"/>
                    <a:pt x="17616165" y="1303550"/>
                    <a:pt x="17614514" y="1579267"/>
                  </a:cubicBezTo>
                  <a:cubicBezTo>
                    <a:pt x="17612483" y="1907816"/>
                    <a:pt x="17614007" y="2383593"/>
                    <a:pt x="17611720" y="2935220"/>
                  </a:cubicBezTo>
                  <a:cubicBezTo>
                    <a:pt x="17609181" y="3522870"/>
                    <a:pt x="17616927" y="4109454"/>
                    <a:pt x="17638771" y="4696039"/>
                  </a:cubicBezTo>
                  <a:cubicBezTo>
                    <a:pt x="17664044" y="5379392"/>
                    <a:pt x="17709891" y="5796619"/>
                    <a:pt x="17691476" y="62051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-1159805">
            <a:off x="11762611" y="5208298"/>
            <a:ext cx="1592112" cy="1366322"/>
          </a:xfrm>
          <a:custGeom>
            <a:avLst/>
            <a:gdLst/>
            <a:ahLst/>
            <a:cxnLst/>
            <a:rect r="r" b="b" t="t" l="l"/>
            <a:pathLst>
              <a:path h="1366322" w="1592112">
                <a:moveTo>
                  <a:pt x="0" y="0"/>
                </a:moveTo>
                <a:lnTo>
                  <a:pt x="1592112" y="0"/>
                </a:lnTo>
                <a:lnTo>
                  <a:pt x="1592112" y="1366321"/>
                </a:lnTo>
                <a:lnTo>
                  <a:pt x="0" y="13663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230974" y="4607877"/>
            <a:ext cx="10305006" cy="1204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800">
                <a:solidFill>
                  <a:srgbClr val="101010"/>
                </a:solidFill>
                <a:latin typeface="Ahkio"/>
                <a:ea typeface="Ahkio"/>
                <a:cs typeface="Ahkio"/>
                <a:sym typeface="Ahkio"/>
              </a:rPr>
              <a:t>THANK YOU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4032216">
            <a:off x="3884520" y="3034524"/>
            <a:ext cx="1196267" cy="1026614"/>
          </a:xfrm>
          <a:custGeom>
            <a:avLst/>
            <a:gdLst/>
            <a:ahLst/>
            <a:cxnLst/>
            <a:rect r="r" b="b" t="t" l="l"/>
            <a:pathLst>
              <a:path h="1026614" w="1196267">
                <a:moveTo>
                  <a:pt x="0" y="0"/>
                </a:moveTo>
                <a:lnTo>
                  <a:pt x="1196267" y="0"/>
                </a:lnTo>
                <a:lnTo>
                  <a:pt x="1196267" y="1026615"/>
                </a:lnTo>
                <a:lnTo>
                  <a:pt x="0" y="10266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40840" y="8819129"/>
            <a:ext cx="10590281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  <a:spcBef>
                <a:spcPct val="0"/>
              </a:spcBef>
            </a:pPr>
            <a:r>
              <a:rPr lang="en-US" sz="4900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</a:rPr>
              <a:t>Github Repo : </a:t>
            </a:r>
            <a:r>
              <a:rPr lang="en-US" sz="4900" u="sng">
                <a:solidFill>
                  <a:srgbClr val="FFFFFF"/>
                </a:solidFill>
                <a:latin typeface="Ahkio"/>
                <a:ea typeface="Ahkio"/>
                <a:cs typeface="Ahkio"/>
                <a:sym typeface="Ahkio"/>
                <a:hlinkClick r:id="rId8" tooltip="https://github.com/SupriyaGiri14/Book_Recommender"/>
              </a:rPr>
              <a:t>Link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724298" y="-142875"/>
            <a:ext cx="525602" cy="62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0"/>
              </a:lnSpc>
            </a:pPr>
            <a:r>
              <a:rPr lang="en-US" sz="3200">
                <a:solidFill>
                  <a:srgbClr val="000000"/>
                </a:solidFill>
                <a:latin typeface="Futura"/>
                <a:ea typeface="Futura"/>
                <a:cs typeface="Futura"/>
                <a:sym typeface="Futura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DAHLn58OedM</dc:identifier>
  <dcterms:modified xsi:type="dcterms:W3CDTF">2011-08-01T06:04:30Z</dcterms:modified>
  <cp:revision>1</cp:revision>
  <dc:title>Book Recommender</dc:title>
</cp:coreProperties>
</file>